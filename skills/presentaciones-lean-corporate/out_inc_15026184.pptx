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1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</p:sldIdLst>
  <p:sldSz cx="24382413" cy="13716000"/>
  <p:notesSz cx="6858000" cy="9144000"/>
  <p:defaultTextStyle>
    <a:defPPr>
      <a:defRPr lang="en-US"/>
    </a:defPPr>
    <a:lvl1pPr marL="0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1pPr>
    <a:lvl2pPr marL="1088502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2pPr>
    <a:lvl3pPr marL="2177004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3pPr>
    <a:lvl4pPr marL="3265505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4pPr>
    <a:lvl5pPr marL="4354007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5pPr>
    <a:lvl6pPr marL="5442509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6pPr>
    <a:lvl7pPr marL="6531011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7pPr>
    <a:lvl8pPr marL="7619512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8pPr>
    <a:lvl9pPr marL="8708014" algn="l" defTabSz="2177004" rtl="0" eaLnBrk="1" latinLnBrk="0" hangingPunct="1">
      <a:defRPr sz="428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1F4E5E"/>
    <a:srgbClr val="D0D8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2"/>
    <p:restoredTop sz="94767"/>
  </p:normalViewPr>
  <p:slideViewPr>
    <p:cSldViewPr>
      <p:cViewPr>
        <p:scale>
          <a:sx n="52" d="100"/>
          <a:sy n="52" d="100"/>
        </p:scale>
        <p:origin x="1056" y="12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E861C-486B-4E18-A0E9-A790238A915C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1066-0135-4CAA-8AD4-89A97190AC0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1pPr>
    <a:lvl2pPr marL="1088502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2pPr>
    <a:lvl3pPr marL="2177004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3pPr>
    <a:lvl4pPr marL="3265505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4pPr>
    <a:lvl5pPr marL="4354007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5pPr>
    <a:lvl6pPr marL="5442509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6pPr>
    <a:lvl7pPr marL="6531011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7pPr>
    <a:lvl8pPr marL="7619512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8pPr>
    <a:lvl9pPr marL="8708014" algn="l" defTabSz="2177004" rtl="0" eaLnBrk="1" latinLnBrk="0" hangingPunct="1">
      <a:defRPr sz="2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tif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ullet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2" y="1387556"/>
            <a:ext cx="21969570" cy="1433163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108960"/>
            <a:ext cx="21969570" cy="9395556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167312271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1206422" y="2372962"/>
            <a:ext cx="2196957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0" i="0">
                <a:latin typeface="IBM Plex Sans Light" panose="020B0403050000000000" pitchFamily="34" charset="77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566160"/>
            <a:ext cx="21969570" cy="89383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/>
            </a:lvl1pPr>
            <a:lvl2pPr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" name="CuadroTexto 4">
            <a:extLst>
              <a:ext uri="{FF2B5EF4-FFF2-40B4-BE49-F238E27FC236}">
                <a16:creationId xmlns:a16="http://schemas.microsoft.com/office/drawing/2014/main" id="{115F9EE0-E9AB-4D35-C35F-90C7C713BE67}"/>
              </a:ext>
            </a:extLst>
          </p:cNvPr>
          <p:cNvSpPr txBox="1"/>
          <p:nvPr userDrawn="1"/>
        </p:nvSpPr>
        <p:spPr>
          <a:xfrm>
            <a:off x="23315682" y="12729239"/>
            <a:ext cx="585178" cy="7027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100" rtlCol="0" anchor="ctr">
            <a:spAutoFit/>
          </a:bodyPr>
          <a:lstStyle/>
          <a:p>
            <a:pPr algn="ctr" defTabSz="825417" hangingPunct="0">
              <a:spcBef>
                <a:spcPts val="1800"/>
              </a:spcBef>
            </a:pPr>
            <a:fld id="{E4706364-2B4E-E341-88EE-2E745FF7F201}" type="slidenum">
              <a:rPr lang="es-ES" sz="2400" b="1" kern="0" spc="-55" dirty="0">
                <a:solidFill>
                  <a:srgbClr val="1F4E5E"/>
                </a:solidFill>
                <a:latin typeface="IBM Plex Sans Light" panose="020B0403050000000000" pitchFamily="34" charset="77"/>
                <a:ea typeface="Helvetica Neue"/>
                <a:cs typeface="Helvetica Neue"/>
                <a:sym typeface="Helvetica Neue"/>
              </a:rPr>
              <a:t>‹#›</a:t>
            </a:fld>
            <a:endParaRPr lang="es-ES" sz="2400" b="1" kern="0" spc="-55" dirty="0">
              <a:solidFill>
                <a:srgbClr val="1F4E5E"/>
              </a:solidFill>
              <a:latin typeface="IBM Plex Sans Light" panose="020B0403050000000000" pitchFamily="34" charset="77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DE107C-3219-0519-DA00-F97BDAFAE4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2340899"/>
            <a:ext cx="2691295" cy="9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468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43994" y="1163782"/>
            <a:ext cx="18631997" cy="11340734"/>
          </a:xfrm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B1FB3D36-0C78-6B49-A2EF-6DAD8B6871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2701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ABFB5B8B-88E1-234F-8DCA-FA2FED8535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362AD5-2565-1941-B6DD-5222463AD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4995" y="1737361"/>
            <a:ext cx="22058464" cy="10057765"/>
          </a:xfrm>
        </p:spPr>
        <p:txBody>
          <a:bodyPr>
            <a:normAutofit/>
          </a:bodyPr>
          <a:lstStyle>
            <a:lvl1pPr marL="571443" marR="0" indent="-571443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 typeface="Arial" panose="020B0604020202020204" pitchFamily="34" charset="0"/>
              <a:buChar char="•"/>
              <a:tabLst/>
              <a:defRPr sz="3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lorem </a:t>
            </a:r>
            <a:r>
              <a:rPr lang="en-US" err="1"/>
              <a:t>commodo</a:t>
            </a:r>
            <a:r>
              <a:rPr lang="en-US"/>
              <a:t> ac. 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</a:p>
          <a:p>
            <a:pPr lvl="0"/>
            <a:r>
              <a:rPr lang="en-US" err="1"/>
              <a:t>Xx</a:t>
            </a:r>
            <a:endParaRPr lang="en-US"/>
          </a:p>
          <a:p>
            <a:pPr lvl="0"/>
            <a:r>
              <a:rPr lang="en-US" err="1"/>
              <a:t>Xx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29155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18" y="2574991"/>
            <a:ext cx="21969574" cy="4648201"/>
          </a:xfrm>
          <a:prstGeom prst="rect">
            <a:avLst/>
          </a:prstGeom>
        </p:spPr>
        <p:txBody>
          <a:bodyPr anchor="b"/>
          <a:lstStyle>
            <a:lvl1pPr algn="l">
              <a:defRPr sz="11599" spc="-232">
                <a:solidFill>
                  <a:srgbClr val="004F60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264" y="7223191"/>
            <a:ext cx="21969571" cy="1905001"/>
          </a:xfrm>
          <a:prstGeom prst="rect">
            <a:avLst/>
          </a:prstGeom>
        </p:spPr>
        <p:txBody>
          <a:bodyPr/>
          <a:lstStyle>
            <a:lvl1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4800" b="0" i="0">
                <a:solidFill>
                  <a:srgbClr val="08BED4"/>
                </a:solidFill>
                <a:latin typeface="IBM Plex Sans Light" panose="020B0403050000000000" pitchFamily="34" charset="77"/>
              </a:defRPr>
            </a:lvl1pPr>
            <a:lvl2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2pPr>
            <a:lvl3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3pPr>
            <a:lvl4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4pPr>
            <a:lvl5pPr marL="0" indent="0" algn="l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08BED4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2CECF1-38DB-DBA9-F2A1-5EDF471914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1788279"/>
            <a:ext cx="4715620" cy="158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429072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609F43A-AD53-DB4B-B031-F5518E6443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1386" y="11709400"/>
            <a:ext cx="4953124" cy="174617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13A3B6-F42E-B344-9A13-00C7C22385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4994" y="5370354"/>
            <a:ext cx="15993021" cy="2122488"/>
          </a:xfrm>
        </p:spPr>
        <p:txBody>
          <a:bodyPr>
            <a:noAutofit/>
          </a:bodyPr>
          <a:lstStyle>
            <a:lvl1pPr marL="0" marR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14999" b="1"/>
            </a:lvl1pPr>
          </a:lstStyle>
          <a:p>
            <a:pPr marL="0" marR="0" lvl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GB"/>
              <a:t>insert title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662600-C864-2147-BC6E-3FD45F43EF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54994" y="7492842"/>
            <a:ext cx="7771894" cy="952500"/>
          </a:xfrm>
        </p:spPr>
        <p:txBody>
          <a:bodyPr/>
          <a:lstStyle>
            <a:lvl1pPr marL="0" indent="0">
              <a:buNone/>
              <a:defRPr b="0" i="0">
                <a:solidFill>
                  <a:srgbClr val="08BED4"/>
                </a:solidFill>
                <a:latin typeface="IBM Plex Sans Light" panose="020B0403050000000000" pitchFamily="34" charset="77"/>
              </a:defRPr>
            </a:lvl1pPr>
          </a:lstStyle>
          <a:p>
            <a:pPr lvl="0"/>
            <a:r>
              <a:rPr lang="en-US"/>
              <a:t>XX January 2021</a:t>
            </a:r>
          </a:p>
        </p:txBody>
      </p:sp>
    </p:spTree>
    <p:extLst>
      <p:ext uri="{BB962C8B-B14F-4D97-AF65-F5344CB8AC3E}">
        <p14:creationId xmlns:p14="http://schemas.microsoft.com/office/powerpoint/2010/main" val="212881070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4543995" y="3951614"/>
            <a:ext cx="9654835" cy="114685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999"/>
            </a:lvl1pPr>
          </a:lstStyle>
          <a:p>
            <a:r>
              <a:t>Agenda Title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543994" y="5386715"/>
            <a:ext cx="18631997" cy="7406043"/>
          </a:xfrm>
          <a:prstGeom prst="rect">
            <a:avLst/>
          </a:prstGeom>
        </p:spPr>
        <p:txBody>
          <a:bodyPr/>
          <a:lstStyle>
            <a:lvl1pPr marL="571443" indent="-571443" defTabSz="825417">
              <a:lnSpc>
                <a:spcPct val="100000"/>
              </a:lnSpc>
              <a:spcBef>
                <a:spcPts val="1800"/>
              </a:spcBef>
              <a:buSzTx/>
              <a:buFont typeface="Arial" panose="020B0604020202020204" pitchFamily="34" charset="0"/>
              <a:buChar char="•"/>
              <a:defRPr sz="4000" b="0" i="0" spc="-55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  <a:lvl2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2pPr>
            <a:lvl3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3pPr>
            <a:lvl4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4pPr>
            <a:lvl5pPr marL="0" indent="0" defTabSz="825417">
              <a:lnSpc>
                <a:spcPct val="100000"/>
              </a:lnSpc>
              <a:spcBef>
                <a:spcPts val="1800"/>
              </a:spcBef>
              <a:buSzTx/>
              <a:buNone/>
              <a:defRPr sz="5499" spc="-55">
                <a:solidFill>
                  <a:srgbClr val="1F4E5E"/>
                </a:solidFill>
              </a:defRPr>
            </a:lvl5pPr>
          </a:lstStyle>
          <a:p>
            <a:r>
              <a:t>Agenda Topics</a:t>
            </a:r>
            <a:endParaRPr lang="en-GB"/>
          </a:p>
          <a:p>
            <a:r>
              <a:rPr lang="en-GB" err="1"/>
              <a:t>Xx</a:t>
            </a:r>
            <a:endParaRPr lang="en-GB"/>
          </a:p>
          <a:p>
            <a:r>
              <a:rPr lang="en-GB" err="1"/>
              <a:t>Xx</a:t>
            </a:r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3ECDA4-EF5D-4C7E-3B70-070C14BA53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0138" y="12340899"/>
            <a:ext cx="2691295" cy="9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6897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364BB925-7324-4645-ACAD-ACDD22401A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A4862A-7AAD-2E4D-9A0E-CEFE08D93C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6422" y="6141419"/>
            <a:ext cx="21969570" cy="1433163"/>
          </a:xfrm>
        </p:spPr>
        <p:txBody>
          <a:bodyPr>
            <a:normAutofit/>
          </a:bodyPr>
          <a:lstStyle>
            <a:lvl1pPr>
              <a:defRPr sz="8499" b="1" i="0">
                <a:latin typeface="IBM Plex Sans" panose="020B0503050000000000" pitchFamily="34" charset="77"/>
              </a:defRPr>
            </a:lvl1pPr>
          </a:lstStyle>
          <a:p>
            <a:r>
              <a:rPr lang="en-GB"/>
              <a:t>Divider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623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&amp; Image/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>
            <a:spLocks noGrp="1"/>
          </p:cNvSpPr>
          <p:nvPr>
            <p:ph type="pic" idx="13"/>
          </p:nvPr>
        </p:nvSpPr>
        <p:spPr>
          <a:xfrm>
            <a:off x="10972086" y="2881745"/>
            <a:ext cx="12144047" cy="956425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1" y="2881745"/>
            <a:ext cx="9778364" cy="4270528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421" y="7060576"/>
            <a:ext cx="9778364" cy="5385424"/>
          </a:xfrm>
          <a:prstGeom prst="rect">
            <a:avLst/>
          </a:prstGeom>
        </p:spPr>
        <p:txBody>
          <a:bodyPr/>
          <a:lstStyle>
            <a:lvl1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  <a:lvl2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2pPr>
            <a:lvl3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3pPr>
            <a:lvl4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4pPr>
            <a:lvl5pPr marL="0" indent="0" defTabSz="825417">
              <a:lnSpc>
                <a:spcPct val="100000"/>
              </a:lnSpc>
              <a:spcBef>
                <a:spcPts val="0"/>
              </a:spcBef>
              <a:buSzTx/>
              <a:buNone/>
              <a:defRPr sz="5499" b="1">
                <a:solidFill>
                  <a:srgbClr val="1F4E5E"/>
                </a:solidFill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290A7C8A-2B87-464A-B781-3B296DD66C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8112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 Shot 2021-01-18 at 7.06.18 PM.png">
            <a:extLst>
              <a:ext uri="{FF2B5EF4-FFF2-40B4-BE49-F238E27FC236}">
                <a16:creationId xmlns:a16="http://schemas.microsoft.com/office/drawing/2014/main" id="{1F056608-931C-8B42-86AA-5D41522E5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7" r="20491" b="11647"/>
          <a:stretch/>
        </p:blipFill>
        <p:spPr>
          <a:xfrm>
            <a:off x="9575177" y="0"/>
            <a:ext cx="14807236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094" y="0"/>
                </a:moveTo>
                <a:cubicBezTo>
                  <a:pt x="4017" y="4839"/>
                  <a:pt x="2321" y="10016"/>
                  <a:pt x="1415" y="13679"/>
                </a:cubicBezTo>
                <a:cubicBezTo>
                  <a:pt x="953" y="15548"/>
                  <a:pt x="385" y="18847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609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9BF1E2D7-D790-3045-BFE1-3FFC019B6C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C0B755-CE02-B946-99A3-2153765E3C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8719" y="2222500"/>
            <a:ext cx="7695699" cy="9271000"/>
          </a:xfrm>
        </p:spPr>
        <p:txBody>
          <a:bodyPr anchor="ctr">
            <a:normAutofit/>
          </a:bodyPr>
          <a:lstStyle>
            <a:lvl1pPr marL="0" indent="0">
              <a:buNone/>
              <a:defRPr sz="3600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90DEB-9CBB-9440-B7F1-75CD6B0EA3A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989410" y="2222500"/>
            <a:ext cx="9244284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180484846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Image 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creen Shot 2021-01-18 at 7.06.18 PM.png">
            <a:extLst>
              <a:ext uri="{FF2B5EF4-FFF2-40B4-BE49-F238E27FC236}">
                <a16:creationId xmlns:a16="http://schemas.microsoft.com/office/drawing/2014/main" id="{1F056608-931C-8B42-86AA-5D41522E56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7" r="20491" b="11647"/>
          <a:stretch/>
        </p:blipFill>
        <p:spPr>
          <a:xfrm>
            <a:off x="9575177" y="0"/>
            <a:ext cx="14807236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094" y="0"/>
                </a:moveTo>
                <a:cubicBezTo>
                  <a:pt x="4017" y="4839"/>
                  <a:pt x="2321" y="10016"/>
                  <a:pt x="1415" y="13679"/>
                </a:cubicBezTo>
                <a:cubicBezTo>
                  <a:pt x="953" y="15548"/>
                  <a:pt x="385" y="18847"/>
                  <a:pt x="0" y="21600"/>
                </a:cubicBezTo>
                <a:lnTo>
                  <a:pt x="21600" y="21600"/>
                </a:lnTo>
                <a:lnTo>
                  <a:pt x="21600" y="0"/>
                </a:lnTo>
                <a:lnTo>
                  <a:pt x="6094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9BF1E2D7-D790-3045-BFE1-3FFC019B6C0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1557E-F28F-E243-8866-F5649EB270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5333" y="2881402"/>
            <a:ext cx="6422607" cy="7453313"/>
          </a:xfrm>
        </p:spPr>
        <p:txBody>
          <a:bodyPr>
            <a:noAutofit/>
          </a:bodyPr>
          <a:lstStyle>
            <a:lvl1pPr marL="0" indent="0">
              <a:buNone/>
              <a:defRPr sz="13799" b="1"/>
            </a:lvl1pPr>
          </a:lstStyle>
          <a:p>
            <a:pPr lvl="0"/>
            <a:r>
              <a:rPr lang="en-US"/>
              <a:t>Insert short header here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F6B0DCE-F690-8942-BD0C-A625CDAA9D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3943693" y="2222500"/>
            <a:ext cx="9290001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</p:spTree>
    <p:extLst>
      <p:ext uri="{BB962C8B-B14F-4D97-AF65-F5344CB8AC3E}">
        <p14:creationId xmlns:p14="http://schemas.microsoft.com/office/powerpoint/2010/main" val="54279753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/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ert 4 word…">
            <a:extLst>
              <a:ext uri="{FF2B5EF4-FFF2-40B4-BE49-F238E27FC236}">
                <a16:creationId xmlns:a16="http://schemas.microsoft.com/office/drawing/2014/main" id="{BC1A8CE5-D5A6-1142-8978-EF2EF1007E5F}"/>
              </a:ext>
            </a:extLst>
          </p:cNvPr>
          <p:cNvSpPr txBox="1"/>
          <p:nvPr userDrawn="1"/>
        </p:nvSpPr>
        <p:spPr>
          <a:xfrm>
            <a:off x="13965176" y="6122895"/>
            <a:ext cx="8780000" cy="97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9527" tIns="59527" rIns="59527" bIns="59527">
            <a:spAutoFit/>
          </a:bodyPr>
          <a:lstStyle/>
          <a:p>
            <a:pPr algn="ctr" defTabSz="684541">
              <a:lnSpc>
                <a:spcPct val="70000"/>
              </a:lnSpc>
              <a:spcBef>
                <a:spcPts val="0"/>
              </a:spcBef>
              <a:defRPr sz="14000" spc="-419">
                <a:solidFill>
                  <a:srgbClr val="204E5E"/>
                </a:solidFill>
                <a:latin typeface="IBM Plex Sans SmBld"/>
                <a:ea typeface="IBM Plex Sans SmBld"/>
                <a:cs typeface="IBM Plex Sans SmBld"/>
                <a:sym typeface="IBM Plex Sans SemiBold"/>
              </a:defRPr>
            </a:pPr>
            <a:r>
              <a:rPr lang="en-US" sz="7499">
                <a:solidFill>
                  <a:schemeClr val="bg1"/>
                </a:solidFill>
              </a:rPr>
              <a:t>Insert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AA8A30-E2CE-9C40-A366-E1BE5AFF814E}"/>
              </a:ext>
            </a:extLst>
          </p:cNvPr>
          <p:cNvSpPr/>
          <p:nvPr userDrawn="1"/>
        </p:nvSpPr>
        <p:spPr>
          <a:xfrm>
            <a:off x="7857614" y="6638391"/>
            <a:ext cx="15891121" cy="595035"/>
          </a:xfrm>
          <a:prstGeom prst="rect">
            <a:avLst/>
          </a:prstGeom>
          <a:solidFill>
            <a:srgbClr val="282728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797" tIns="50797" rIns="50797" bIns="50797" numCol="1" spcCol="38100" rtlCol="0" anchor="ctr">
            <a:spAutoFit/>
          </a:bodyPr>
          <a:lstStyle/>
          <a:p>
            <a:pPr marL="0" marR="0" indent="0" algn="ctr" defTabSz="82541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" name="Picture 9" descr="Logo, company name&#10;&#10;Description automatically generated">
            <a:extLst>
              <a:ext uri="{FF2B5EF4-FFF2-40B4-BE49-F238E27FC236}">
                <a16:creationId xmlns:a16="http://schemas.microsoft.com/office/drawing/2014/main" id="{FAB10B96-5ED0-6744-B4B8-E74E3B713C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23F0701-4D8B-364E-BE81-BCAE914D936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343357" y="2222500"/>
            <a:ext cx="14890337" cy="9271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7999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image here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5C0B4646-1B4A-6F44-B425-EF95D026AD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6084" y="4663806"/>
            <a:ext cx="6076489" cy="6761114"/>
          </a:xfrm>
        </p:spPr>
        <p:txBody>
          <a:bodyPr anchor="t">
            <a:normAutofit/>
          </a:bodyPr>
          <a:lstStyle>
            <a:lvl1pPr marL="0" marR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2800" b="0" i="0">
                <a:solidFill>
                  <a:srgbClr val="1F4E5E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  <a:p>
            <a:pPr marL="0" marR="0" lvl="0" indent="0" algn="l" defTabSz="2438094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/>
            </a:pPr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E2859-E77B-F243-880F-1CE426F4A3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6084" y="4022775"/>
            <a:ext cx="6076554" cy="777875"/>
          </a:xfrm>
        </p:spPr>
        <p:txBody>
          <a:bodyPr>
            <a:normAutofit/>
          </a:bodyPr>
          <a:lstStyle>
            <a:lvl1pPr marL="0" indent="0">
              <a:buNone/>
              <a:defRPr sz="3500" b="1">
                <a:solidFill>
                  <a:srgbClr val="08BED4"/>
                </a:solidFill>
              </a:defRPr>
            </a:lvl1pPr>
          </a:lstStyle>
          <a:p>
            <a:pPr lvl="0"/>
            <a:r>
              <a:rPr lang="en-US"/>
              <a:t>headline in semi bold</a:t>
            </a:r>
          </a:p>
        </p:txBody>
      </p:sp>
    </p:spTree>
    <p:extLst>
      <p:ext uri="{BB962C8B-B14F-4D97-AF65-F5344CB8AC3E}">
        <p14:creationId xmlns:p14="http://schemas.microsoft.com/office/powerpoint/2010/main" val="2031413974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hor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1220F6C6-BA62-3B4E-80C7-E80C26ED72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B529312-1F18-C640-A134-A6E501C0EB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591902" y="357810"/>
            <a:ext cx="8292008" cy="12889629"/>
          </a:xfrm>
        </p:spPr>
        <p:txBody>
          <a:bodyPr anchor="ctr">
            <a:norm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IBM Plex Sans Light" panose="020B0403050000000000" pitchFamily="34" charset="77"/>
              </a:defRPr>
            </a:lvl1pPr>
          </a:lstStyle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at </a:t>
            </a:r>
            <a:r>
              <a:rPr lang="en-GB" err="1"/>
              <a:t>massa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Cras </a:t>
            </a:r>
            <a:r>
              <a:rPr lang="en-GB" err="1"/>
              <a:t>lobortis</a:t>
            </a:r>
            <a:r>
              <a:rPr lang="en-GB"/>
              <a:t> semper </a:t>
            </a:r>
            <a:r>
              <a:rPr lang="en-GB" err="1"/>
              <a:t>purus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auctor.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50A29DAD-537A-D24C-AAC3-CF6629E6E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8502" y="3292889"/>
            <a:ext cx="7161782" cy="7130222"/>
          </a:xfrm>
        </p:spPr>
        <p:txBody>
          <a:bodyPr anchor="ctr">
            <a:noAutofit/>
          </a:bodyPr>
          <a:lstStyle>
            <a:lvl1pPr>
              <a:defRPr sz="13999" b="1" i="0">
                <a:solidFill>
                  <a:srgbClr val="1F4E5E"/>
                </a:solidFill>
                <a:latin typeface="IBM Plex Sans SmBld" panose="020B0503050000000000" pitchFamily="34" charset="77"/>
              </a:defRPr>
            </a:lvl1pPr>
          </a:lstStyle>
          <a:p>
            <a:r>
              <a:rPr lang="en-GB"/>
              <a:t>insert short header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6291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&amp; Short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336F0-8123-FB47-900F-6B5D7DCF93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680245" y="2209799"/>
            <a:ext cx="8787828" cy="9296400"/>
          </a:xfrm>
        </p:spPr>
        <p:txBody>
          <a:bodyPr anchor="ctr">
            <a:normAutofit/>
          </a:bodyPr>
          <a:lstStyle>
            <a:lvl1pPr marL="0" indent="0">
              <a:buNone/>
              <a:defRPr sz="4400" b="0" i="0">
                <a:solidFill>
                  <a:schemeClr val="bg1"/>
                </a:solidFill>
                <a:latin typeface="IBM Plex Sans Light" panose="020B0403050000000000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Proin lacinia </a:t>
            </a:r>
            <a:r>
              <a:rPr lang="en-US" err="1"/>
              <a:t>ultrices</a:t>
            </a:r>
            <a:r>
              <a:rPr lang="en-US"/>
              <a:t> ex et pulvinar. </a:t>
            </a:r>
            <a:r>
              <a:rPr lang="en-US" err="1"/>
              <a:t>Curabitur</a:t>
            </a:r>
            <a:r>
              <a:rPr lang="en-US"/>
              <a:t> id </a:t>
            </a:r>
            <a:r>
              <a:rPr lang="en-US" err="1"/>
              <a:t>sem</a:t>
            </a:r>
            <a:r>
              <a:rPr lang="en-US"/>
              <a:t> mi.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61B95-642A-1E51-9CF9-3AA83C78E5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46826" y="5785764"/>
            <a:ext cx="6366399" cy="214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4962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/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C8C2CD3-EE79-9E40-B4A6-8B493A8742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35" y="12340899"/>
            <a:ext cx="2570691" cy="9065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950801-81C2-504C-8A5B-3FD18241F3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0173" y="6141419"/>
            <a:ext cx="21969570" cy="1433163"/>
          </a:xfrm>
        </p:spPr>
        <p:txBody>
          <a:bodyPr>
            <a:normAutofit/>
          </a:bodyPr>
          <a:lstStyle>
            <a:lvl1pPr algn="ctr">
              <a:defRPr sz="7999"/>
            </a:lvl1pPr>
          </a:lstStyle>
          <a:p>
            <a:r>
              <a:rPr lang="en-GB"/>
              <a:t>insert short quote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284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7C1444B-5BCB-0E4F-A8C9-7B8719032B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7377" y="7545504"/>
            <a:ext cx="4346682" cy="15323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32246-6ED4-9D46-B382-B78930C4C6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195" y="5743490"/>
            <a:ext cx="17441045" cy="2921000"/>
          </a:xfrm>
        </p:spPr>
        <p:txBody>
          <a:bodyPr>
            <a:noAutofit/>
          </a:bodyPr>
          <a:lstStyle>
            <a:lvl1pPr marL="0" indent="0" algn="ctr">
              <a:buNone/>
              <a:defRPr sz="11499" b="1"/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8599985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422" y="1079501"/>
            <a:ext cx="2196957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422" y="3040380"/>
            <a:ext cx="21969570" cy="9464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</p:spTree>
    <p:extLst>
      <p:ext uri="{BB962C8B-B14F-4D97-AF65-F5344CB8AC3E}">
        <p14:creationId xmlns:p14="http://schemas.microsoft.com/office/powerpoint/2010/main" val="63860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</p:sldLayoutIdLst>
  <p:transition spd="med"/>
  <p:txStyles>
    <p:titleStyle>
      <a:lvl1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8BED4"/>
          </a:solidFill>
          <a:uFillTx/>
          <a:latin typeface="IBM Plex Sans" panose="020B0503050000000000" pitchFamily="34" charset="77"/>
          <a:ea typeface="+mn-ea"/>
          <a:cs typeface="+mn-cs"/>
          <a:sym typeface="Helvetica Neue"/>
        </a:defRPr>
      </a:lvl1pPr>
      <a:lvl2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094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99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539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IBM Plex Sans" panose="020B0503050000000000" pitchFamily="34" charset="77"/>
          <a:ea typeface="+mn-ea"/>
          <a:cs typeface="+mn-cs"/>
          <a:sym typeface="Helvetica Neue"/>
        </a:defRPr>
      </a:lvl1pPr>
      <a:lvl2pPr marL="1219078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2pPr>
      <a:lvl3pPr marL="1828617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3pPr>
      <a:lvl4pPr marL="2438156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4pPr>
      <a:lvl5pPr marL="3047695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1F4E5E"/>
          </a:solidFill>
          <a:uFillTx/>
          <a:latin typeface="+mn-lt"/>
          <a:ea typeface="+mn-ea"/>
          <a:cs typeface="+mn-cs"/>
          <a:sym typeface="Helvetica Neue"/>
        </a:defRPr>
      </a:lvl5pPr>
      <a:lvl6pPr marL="3657234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6773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312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5851" marR="0" indent="-609539" algn="l" defTabSz="2438094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14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418" y="2574991"/>
            <a:ext cx="18653012" cy="4648201"/>
          </a:xfrm>
        </p:spPr>
        <p:txBody>
          <a:bodyPr/>
          <a:lstStyle/>
          <a:p>
            <a:r>
              <a:rPr sz="8799" b="1">
                <a:latin typeface="IBM Plex Sans"/>
              </a:rPr>
              <a:t>Incidencia </a:t>
            </a:r>
            <a:r>
              <a:rPr sz="8799" b="1">
                <a:latin typeface="IBM Plex Sans"/>
              </a:rPr>
              <a:t>INC000015026184</a:t>
            </a:r>
            <a:r>
              <a:rPr sz="8799" b="1">
                <a:latin typeface="IBM Plex Sans"/>
              </a:rPr>
              <a:t>: fallo en descarga o duplicado de facturas en Omega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>
          <a:xfrm>
            <a:off x="1201264" y="7223191"/>
            <a:ext cx="14629813" cy="3157093"/>
          </a:xfrm>
        </p:spPr>
        <p:txBody>
          <a:bodyPr/>
          <a:lstStyle/>
          <a:p>
            <a:r>
              <a:rPr sz="5499" b="1">
                <a:latin typeface="IBM Plex Sans"/>
              </a:rPr>
              <a:t>Síntesis ejecutiva de hallazgos, hipótesis y acciones propuestas</a:t>
            </a:r>
          </a:p>
          <a:p>
            <a:pPr>
              <a:spcBef>
                <a:spcPts val="1199"/>
              </a:spcBef>
            </a:pPr>
            <a:r>
              <a:rPr sz="4799">
                <a:latin typeface="IBM Plex Sans Light"/>
              </a:rPr>
              <a:t>v1.0 / 27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1. 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1544355"/>
          </a:xfrm>
        </p:spPr>
        <p:txBody>
          <a:bodyPr/>
          <a:lstStyle/>
          <a:p>
            <a:r>
              <a:rPr sz="3999">
                <a:latin typeface="IBM Plex Sans Light"/>
              </a:rPr>
              <a:t>La causa no está confirmada y el caso sigue condicionado por </a:t>
            </a:r>
            <a:r>
              <a:rPr sz="3999" b="1">
                <a:solidFill>
                  <a:srgbClr val="0A8FA1"/>
                </a:solidFill>
                <a:latin typeface="IBM Plex Sans"/>
              </a:rPr>
              <a:t>falta de evidencias de ejecución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6959" y="4175592"/>
            <a:ext cx="6981468" cy="6010415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19003" y="4687636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03" y="6004319"/>
            <a:ext cx="5957381" cy="5714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1E2A2F"/>
                </a:solidFill>
                <a:latin typeface="IBM Plex Sans"/>
              </a:rPr>
              <a:t>Síntoma observado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03" y="6850105"/>
            <a:ext cx="5957381" cy="282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399" b="0" i="0">
                <a:solidFill>
                  <a:srgbClr val="4C6573"/>
                </a:solidFill>
                <a:latin typeface="IBM Plex Sans Light"/>
              </a:rPr>
              <a:t>Cliente con contrato inactivo no puede descargar facturas; Omega muestra un error genérico.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00472" y="4175592"/>
            <a:ext cx="6981468" cy="6010415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12515" y="4687636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2515" y="6004319"/>
            <a:ext cx="5957381" cy="5714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1E2A2F"/>
                </a:solidFill>
                <a:latin typeface="IBM Plex Sans"/>
              </a:rPr>
              <a:t>Impacto estimado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2515" y="6850105"/>
            <a:ext cx="5957381" cy="282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399" b="0" i="0">
                <a:solidFill>
                  <a:srgbClr val="4C6573"/>
                </a:solidFill>
                <a:latin typeface="IBM Plex Sans Light"/>
              </a:rPr>
              <a:t>Se confirma al menos un cliente afectado; no hay datos para determinar alcance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3984" y="4175592"/>
            <a:ext cx="6981468" cy="6010415"/>
          </a:xfrm>
          <a:prstGeom prst="rect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06027" y="4687636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06027" y="6004319"/>
            <a:ext cx="5957381" cy="5714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FFFFFF"/>
                </a:solidFill>
                <a:latin typeface="IBM Plex Sans"/>
              </a:rPr>
              <a:t>Incógnita crítica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06027" y="6850105"/>
            <a:ext cx="5957381" cy="282385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399" b="0" i="0">
                <a:solidFill>
                  <a:srgbClr val="D7DFE2"/>
                </a:solidFill>
                <a:latin typeface="IBM Plex Sans Light"/>
              </a:rPr>
              <a:t>No se sabe si el fallo ocurrió al descargar, al solicitar el duplicado o al abrir el enlace del email.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6959" y="10533465"/>
            <a:ext cx="21968493" cy="1206959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959" y="10533465"/>
            <a:ext cx="128010" cy="1206959"/>
          </a:xfrm>
          <a:prstGeom prst="rect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5577" y="10679763"/>
            <a:ext cx="21054130" cy="9143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199" b="1" i="0">
                <a:solidFill>
                  <a:srgbClr val="1E2A2F"/>
                </a:solidFill>
                <a:latin typeface="IBM Plex Sans"/>
              </a:rPr>
              <a:t>La prioridad es identificar el punto exacto de fallo para evitar decisiones basadas solo en hipótesis.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635" y="12581639"/>
            <a:ext cx="17555776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Fuente: Ticket INC000015026184 y análisis técnico recibido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2. Cadena Técnica Implicada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4299">
                <a:latin typeface="IBM Plex Sans Light"/>
              </a:rPr>
              <a:t>La incidencia puede originarse en </a:t>
            </a:r>
            <a:r>
              <a:rPr sz="4299" b="1">
                <a:solidFill>
                  <a:srgbClr val="0A8FA1"/>
                </a:solidFill>
                <a:latin typeface="IBM Plex Sans"/>
              </a:rPr>
              <a:t>dos cadenas funcionales</a:t>
            </a:r>
            <a:r>
              <a:rPr sz="4299">
                <a:latin typeface="IBM Plex Sans Light"/>
              </a:rPr>
              <a:t> con dependencias distintas</a:t>
            </a:r>
          </a:p>
        </p:txBody>
      </p:sp>
      <p:sp>
        <p:nvSpPr>
          <p:cNvPr id="4" name="Pentagon 3"/>
          <p:cNvSpPr/>
          <p:nvPr/>
        </p:nvSpPr>
        <p:spPr>
          <a:xfrm>
            <a:off x="1206959" y="4391382"/>
            <a:ext cx="7469129" cy="1737290"/>
          </a:xfrm>
          <a:prstGeom prst="homePlate">
            <a:avLst>
              <a:gd name="adj" fmla="val 32000"/>
            </a:avLst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FFFFFF"/>
                </a:solidFill>
                <a:latin typeface="IBM Plex Sans"/>
              </a:rPr>
              <a:t>Descarga directa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268" y="6768727"/>
            <a:ext cx="6646202" cy="2270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999" b="0" i="0">
                <a:solidFill>
                  <a:srgbClr val="4C6573"/>
                </a:solidFill>
                <a:latin typeface="IBM Plex Sans Light"/>
              </a:rPr>
              <a:t>Omega llama a `ntgy-fua-e-fua` y este enruta a NewCo o Imperial según `type`.</a:t>
            </a:r>
          </a:p>
        </p:txBody>
      </p:sp>
      <p:sp>
        <p:nvSpPr>
          <p:cNvPr id="6" name="Chevron 5"/>
          <p:cNvSpPr/>
          <p:nvPr/>
        </p:nvSpPr>
        <p:spPr>
          <a:xfrm>
            <a:off x="8456641" y="4391382"/>
            <a:ext cx="7469129" cy="1737290"/>
          </a:xfrm>
          <a:prstGeom prst="chevron">
            <a:avLst>
              <a:gd name="adj" fmla="val 32000"/>
            </a:avLst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FFFFFF"/>
                </a:solidFill>
                <a:latin typeface="IBM Plex Sans"/>
              </a:rPr>
              <a:t>Validación y recuperación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0950" y="6768727"/>
            <a:ext cx="6646202" cy="2270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999" b="0" i="0">
                <a:solidFill>
                  <a:srgbClr val="4C6573"/>
                </a:solidFill>
                <a:latin typeface="IBM Plex Sans Light"/>
              </a:rPr>
              <a:t>NewCo valida `docId` y NIF en DynamoDB y recupera el PDF desde S3.</a:t>
            </a:r>
          </a:p>
        </p:txBody>
      </p:sp>
      <p:sp>
        <p:nvSpPr>
          <p:cNvPr id="8" name="Chevron 7"/>
          <p:cNvSpPr/>
          <p:nvPr/>
        </p:nvSpPr>
        <p:spPr>
          <a:xfrm>
            <a:off x="15706323" y="4391382"/>
            <a:ext cx="7469129" cy="1737290"/>
          </a:xfrm>
          <a:prstGeom prst="chevron">
            <a:avLst>
              <a:gd name="adj" fmla="val 32000"/>
            </a:avLst>
          </a:prstGeom>
          <a:solidFill>
            <a:srgbClr val="537783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FFFFFF"/>
                </a:solidFill>
                <a:latin typeface="IBM Plex Sans"/>
              </a:rPr>
              <a:t>Duplicado por 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80632" y="6768727"/>
            <a:ext cx="6646202" cy="22706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2999" b="0" i="0">
                <a:solidFill>
                  <a:srgbClr val="4C6573"/>
                </a:solidFill>
                <a:latin typeface="IBM Plex Sans Light"/>
              </a:rPr>
              <a:t>`duplicateInvoice` crea caso en Salesforce, token en DynamoDB y envío vía Marketing Cloud hacia la URL de Omega.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6959" y="10533465"/>
            <a:ext cx="21968493" cy="1206959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06959" y="10533465"/>
            <a:ext cx="128010" cy="1206959"/>
          </a:xfrm>
          <a:prstGeom prst="rect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577" y="10679763"/>
            <a:ext cx="21054130" cy="9143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99" b="1" i="0">
                <a:solidFill>
                  <a:srgbClr val="1E2A2F"/>
                </a:solidFill>
                <a:latin typeface="IBM Plex Sans"/>
              </a:rPr>
              <a:t>Un mismo mensaje de error en Omega puede ocultar fallos diferentes en descarga, token, almacenamiento o frontal.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635" y="12581639"/>
            <a:ext cx="17555776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Fuente: ntgy-fua-e-fua, ntgy-newco-p-fua-evo y documentación de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3. Hallazgos e Hipótesis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934780"/>
          </a:xfrm>
        </p:spPr>
        <p:txBody>
          <a:bodyPr/>
          <a:lstStyle/>
          <a:p>
            <a:r>
              <a:rPr sz="5099">
                <a:latin typeface="IBM Plex Sans Light"/>
              </a:rPr>
              <a:t>Los hallazgos apuntan a </a:t>
            </a:r>
            <a:r>
              <a:rPr sz="5099" b="1">
                <a:solidFill>
                  <a:srgbClr val="0A8FA1"/>
                </a:solidFill>
                <a:latin typeface="IBM Plex Sans"/>
              </a:rPr>
              <a:t>tres hipótesis</a:t>
            </a:r>
            <a:r>
              <a:rPr sz="5099">
                <a:latin typeface="IBM Plex Sans Light"/>
              </a:rPr>
              <a:t> con mayor plausibilidad operativa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1206959" y="3566017"/>
            <a:ext cx="6981468" cy="6619990"/>
          </a:xfrm>
          <a:prstGeom prst="rect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19003" y="4078060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9003" y="5394743"/>
            <a:ext cx="5957381" cy="1142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FFFFFF"/>
                </a:solidFill>
                <a:latin typeface="IBM Plex Sans"/>
              </a:rPr>
              <a:t>H1 · Enlace/token de duplicado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9003" y="6812006"/>
            <a:ext cx="5957381" cy="28619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099" b="0" i="0">
                <a:solidFill>
                  <a:srgbClr val="D7DFE2"/>
                </a:solidFill>
                <a:latin typeface="IBM Plex Sans Light"/>
              </a:rPr>
              <a:t>El flujo de duplicado genera un único token para la primera factura y no verifica que el PDF exista antes de enviar el email.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700472" y="3566017"/>
            <a:ext cx="6981468" cy="6619990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12515" y="4078060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2515" y="5394743"/>
            <a:ext cx="5957381" cy="1142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1E2A2F"/>
                </a:solidFill>
                <a:latin typeface="IBM Plex Sans"/>
              </a:rPr>
              <a:t>H2 · Error en descarga NewCo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12515" y="6812006"/>
            <a:ext cx="5957381" cy="28619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099" b="0" i="0">
                <a:solidFill>
                  <a:srgbClr val="4C6573"/>
                </a:solidFill>
                <a:latin typeface="IBM Plex Sans Light"/>
              </a:rPr>
              <a:t>Un fallo de S3, ausencia de documento o NIF no coincidente puede acabar en `1005` o `1006`, enmascarado ante el frontal.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3984" y="3566017"/>
            <a:ext cx="6981468" cy="6619990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706027" y="4078060"/>
            <a:ext cx="1024086" cy="1024086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06027" y="5394743"/>
            <a:ext cx="5957381" cy="11429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599" b="1" i="0">
                <a:solidFill>
                  <a:srgbClr val="1E2A2F"/>
                </a:solidFill>
                <a:latin typeface="IBM Plex Sans"/>
              </a:rPr>
              <a:t>H3 · Ruta Imperial / `type`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06027" y="6812006"/>
            <a:ext cx="5957381" cy="28619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3099" b="0" i="0">
                <a:solidFill>
                  <a:srgbClr val="4C6573"/>
                </a:solidFill>
                <a:latin typeface="IBM Plex Sans Light"/>
              </a:rPr>
              <a:t>Facturas antiguas o un `type=NI` incorrecto podrían desviar la operación a una cadena no verificada en este análisis.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6959" y="10533465"/>
            <a:ext cx="21968493" cy="1206959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959" y="10533465"/>
            <a:ext cx="128010" cy="1206959"/>
          </a:xfrm>
          <a:prstGeom prst="rect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5577" y="10679763"/>
            <a:ext cx="21054130" cy="9143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899" b="1" i="0">
                <a:solidFill>
                  <a:srgbClr val="1E2A2F"/>
                </a:solidFill>
                <a:latin typeface="IBM Plex Sans"/>
              </a:rPr>
              <a:t>La hipótesis más probable cambia según dónde apareció exactamente el error: descarga, solicitud o apertura del enlace.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635" y="12581639"/>
            <a:ext cx="17555776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Fuente: Revisión de código y secciones 3 y 4 del análisis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8499" b="1">
                <a:latin typeface="IBM Plex Sans"/>
              </a:rPr>
              <a:t>4. Evidencias y Próximos Pasos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>
          <a:xfrm>
            <a:off x="1206422" y="2372962"/>
            <a:ext cx="21969570" cy="1544355"/>
          </a:xfrm>
        </p:spPr>
        <p:txBody>
          <a:bodyPr/>
          <a:lstStyle/>
          <a:p>
            <a:r>
              <a:rPr sz="3999">
                <a:latin typeface="IBM Plex Sans Light"/>
              </a:rPr>
              <a:t>La resolución exige </a:t>
            </a:r>
            <a:r>
              <a:rPr sz="3999" b="1">
                <a:solidFill>
                  <a:srgbClr val="0A8FA1"/>
                </a:solidFill>
                <a:latin typeface="IBM Plex Sans"/>
              </a:rPr>
              <a:t>acotar el fallo con evidencias</a:t>
            </a:r>
            <a:r>
              <a:rPr sz="3999">
                <a:latin typeface="IBM Plex Sans Light"/>
              </a:rPr>
              <a:t> y proteger mientras tanto la atención al cliente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06959" y="6004319"/>
            <a:ext cx="21968494" cy="0"/>
          </a:xfrm>
          <a:prstGeom prst="line">
            <a:avLst/>
          </a:prstGeom>
          <a:ln w="50797">
            <a:solidFill>
              <a:srgbClr val="ABD6D5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953021" y="6004319"/>
            <a:ext cx="2746062" cy="0"/>
          </a:xfrm>
          <a:prstGeom prst="line">
            <a:avLst/>
          </a:prstGeom>
          <a:ln w="50797">
            <a:solidFill>
              <a:srgbClr val="1F4E5E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1389832" y="4175592"/>
            <a:ext cx="5126378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4C6573"/>
                </a:solidFill>
                <a:latin typeface="IBM Plex Sans"/>
              </a:rPr>
              <a:t>Paso 1</a:t>
            </a:r>
          </a:p>
        </p:txBody>
      </p:sp>
      <p:sp>
        <p:nvSpPr>
          <p:cNvPr id="7" name="Oval 6"/>
          <p:cNvSpPr/>
          <p:nvPr/>
        </p:nvSpPr>
        <p:spPr>
          <a:xfrm>
            <a:off x="3642137" y="5693435"/>
            <a:ext cx="621767" cy="621767"/>
          </a:xfrm>
          <a:prstGeom prst="ellipse">
            <a:avLst/>
          </a:prstGeom>
          <a:solidFill>
            <a:srgbClr val="1F4E5E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06" y="6735809"/>
            <a:ext cx="5053229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Aclarar el síntoma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6406" y="8107355"/>
            <a:ext cx="5053229" cy="20786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499" b="0" i="0">
                <a:solidFill>
                  <a:srgbClr val="4C6573"/>
                </a:solidFill>
                <a:latin typeface="IBM Plex Sans Light"/>
              </a:rPr>
              <a:t>Confirmar hora, zona horaria y pantalla exacta donde se mostró el mensaje de Omega.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1955" y="4175592"/>
            <a:ext cx="5126378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0A8FA1"/>
                </a:solidFill>
                <a:latin typeface="IBM Plex Sans"/>
              </a:rPr>
              <a:t>Paso 2</a:t>
            </a:r>
          </a:p>
        </p:txBody>
      </p:sp>
      <p:sp>
        <p:nvSpPr>
          <p:cNvPr id="11" name="Oval 10"/>
          <p:cNvSpPr/>
          <p:nvPr/>
        </p:nvSpPr>
        <p:spPr>
          <a:xfrm>
            <a:off x="9134261" y="5693435"/>
            <a:ext cx="621767" cy="621767"/>
          </a:xfrm>
          <a:prstGeom prst="ellipse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8530" y="6735809"/>
            <a:ext cx="5053229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Trazar la petición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8530" y="8107355"/>
            <a:ext cx="5053229" cy="20786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499" b="0" i="0">
                <a:solidFill>
                  <a:srgbClr val="4C6573"/>
                </a:solidFill>
                <a:latin typeface="IBM Plex Sans Light"/>
              </a:rPr>
              <a:t>Obtener en `ntgy-fua-e-fua` los parámetros `documentId`, `type`, HTTP y `codResult/msgResult`, indicando CH1 o CH2.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74079" y="4175592"/>
            <a:ext cx="5126378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4C6573"/>
                </a:solidFill>
                <a:latin typeface="IBM Plex Sans"/>
              </a:rPr>
              <a:t>Paso 3</a:t>
            </a:r>
          </a:p>
        </p:txBody>
      </p:sp>
      <p:sp>
        <p:nvSpPr>
          <p:cNvPr id="15" name="Oval 14"/>
          <p:cNvSpPr/>
          <p:nvPr/>
        </p:nvSpPr>
        <p:spPr>
          <a:xfrm>
            <a:off x="14626384" y="5693435"/>
            <a:ext cx="621767" cy="621767"/>
          </a:xfrm>
          <a:prstGeom prst="ellipse">
            <a:avLst/>
          </a:prstGeom>
          <a:solidFill>
            <a:srgbClr val="ABD6D5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10653" y="6735809"/>
            <a:ext cx="5053229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Validar token y documento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10653" y="8107355"/>
            <a:ext cx="5053229" cy="20786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499" b="0" i="0">
                <a:solidFill>
                  <a:srgbClr val="4C6573"/>
                </a:solidFill>
                <a:latin typeface="IBM Plex Sans Light"/>
              </a:rPr>
              <a:t>Revisar en NewCo, S3 y DynamoDB el registro del token, la existencia del PDF y posibles errores `1005/1006/1007`.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66202" y="4175592"/>
            <a:ext cx="5126378" cy="1005799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00000"/>
              </a:lnSpc>
            </a:pPr>
            <a:r>
              <a:rPr sz="2999" b="1" i="0">
                <a:solidFill>
                  <a:srgbClr val="4C6573"/>
                </a:solidFill>
                <a:latin typeface="IBM Plex Sans"/>
              </a:rPr>
              <a:t>Paso 4</a:t>
            </a:r>
          </a:p>
        </p:txBody>
      </p:sp>
      <p:sp>
        <p:nvSpPr>
          <p:cNvPr id="19" name="Oval 18"/>
          <p:cNvSpPr/>
          <p:nvPr/>
        </p:nvSpPr>
        <p:spPr>
          <a:xfrm>
            <a:off x="20118508" y="5693435"/>
            <a:ext cx="621767" cy="621767"/>
          </a:xfrm>
          <a:prstGeom prst="ellipse">
            <a:avLst/>
          </a:prstGeom>
          <a:solidFill>
            <a:srgbClr val="ABD6D5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799" b="1" i="0">
                <a:solidFill>
                  <a:srgbClr val="FFFFFF"/>
                </a:solidFill>
                <a:latin typeface="IBM Plex San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02777" y="6735809"/>
            <a:ext cx="5053229" cy="12801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99" b="1" i="0">
                <a:solidFill>
                  <a:srgbClr val="1E2A2F"/>
                </a:solidFill>
                <a:latin typeface="IBM Plex Sans"/>
              </a:rPr>
              <a:t>Contener impacto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02777" y="8107355"/>
            <a:ext cx="5053229" cy="20786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2499" b="0" i="0">
                <a:solidFill>
                  <a:srgbClr val="4C6573"/>
                </a:solidFill>
                <a:latin typeface="IBM Plex Sans Light"/>
              </a:rPr>
              <a:t>Valorar envío manual de copias mientras se confirma si el patrón afecta a más clientes o facturas antiguas.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6959" y="10533465"/>
            <a:ext cx="21968493" cy="1206959"/>
          </a:xfrm>
          <a:prstGeom prst="rect">
            <a:avLst/>
          </a:prstGeom>
          <a:solidFill>
            <a:srgbClr val="E5EF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06959" y="10533465"/>
            <a:ext cx="128010" cy="1206959"/>
          </a:xfrm>
          <a:prstGeom prst="rect">
            <a:avLst/>
          </a:prstGeom>
          <a:solidFill>
            <a:srgbClr val="08BED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55577" y="10679763"/>
            <a:ext cx="21054130" cy="91436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99" b="1" i="0">
                <a:solidFill>
                  <a:srgbClr val="1E2A2F"/>
                </a:solidFill>
                <a:latin typeface="IBM Plex Sans"/>
              </a:rPr>
              <a:t>Sin logs ni respuesta API no es posible confirmar causa raíz; sí es posible priorizar la validación y la contención.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635" y="12581639"/>
            <a:ext cx="17555776" cy="4023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99" b="0" i="1">
                <a:solidFill>
                  <a:srgbClr val="4C6573"/>
                </a:solidFill>
                <a:latin typeface="IBM Plex Sans Light"/>
              </a:rPr>
              <a:t>Fuente: Secciones 5, 6 y 7 del análisis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2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0</Slides>
  <Notes>0</Notes>
  <HiddenSlides>0</HiddenSlides>
  <Company>Lean Corporate Services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ejecutivo de incidencia INC000015026184</dc:title>
  <dc:creator>Cline</dc:creator>
  <cp:lastModifiedBy/>
  <cp:revision>1</cp:revision>
  <cp:lastPrinted>2026-03-02T07:55:58Z</cp:lastPrinted>
  <dcterms:created xsi:type="dcterms:W3CDTF">2012-08-24T00:53:15Z</dcterms:created>
  <dcterms:modified xsi:type="dcterms:W3CDTF">2026-03-09T13:20:44Z</dcterms:modified>
  <dc:subject/>
  <cp:keywords/>
  <dc:description/>
</cp:coreProperties>
</file>