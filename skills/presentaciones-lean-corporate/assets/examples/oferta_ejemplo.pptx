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1" r:id="rId1"/>
  </p:sldMasterIdLst>
  <p:notesMasterIdLst>
    <p:notesMasterId r:id="rId3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24382413" cy="13716000"/>
  <p:notesSz cx="6858000" cy="9144000"/>
  <p:defaultTextStyle>
    <a:defPPr>
      <a:defRPr lang="en-US"/>
    </a:defPPr>
    <a:lvl1pPr marL="0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1pPr>
    <a:lvl2pPr marL="1088502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2pPr>
    <a:lvl3pPr marL="2177004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3pPr>
    <a:lvl4pPr marL="3265505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4pPr>
    <a:lvl5pPr marL="4354007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5pPr>
    <a:lvl6pPr marL="5442509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6pPr>
    <a:lvl7pPr marL="6531011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7pPr>
    <a:lvl8pPr marL="7619512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8pPr>
    <a:lvl9pPr marL="8708014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1F4E5E"/>
    <a:srgbClr val="D0D8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92"/>
    <p:restoredTop sz="94767"/>
  </p:normalViewPr>
  <p:slideViewPr>
    <p:cSldViewPr>
      <p:cViewPr>
        <p:scale>
          <a:sx n="52" d="100"/>
          <a:sy n="52" d="100"/>
        </p:scale>
        <p:origin x="1056" y="120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Reducción estimada</c:v>
                </c:pt>
              </c:strCache>
            </c:strRef>
          </c:tx>
          <c:spPr>
            <a:solidFill>
              <a:srgbClr val="08BED4"/>
            </a:solidFill>
            <a:ln>
              <a:noFill/>
            </a:ln>
          </c:spPr>
          <c:dPt>
            <c:idx val="0"/>
            <c:spPr>
              <a:solidFill>
                <a:srgbClr val="08BED4"/>
              </a:solidFill>
            </c:spPr>
          </c:dPt>
          <c:dPt>
            <c:idx val="1"/>
            <c:spPr>
              <a:solidFill>
                <a:srgbClr val="8DDEE8"/>
              </a:solidFill>
            </c:spPr>
          </c:dPt>
          <c:dPt>
            <c:idx val="2"/>
            <c:spPr>
              <a:solidFill>
                <a:srgbClr val="8DDEE8"/>
              </a:solidFill>
            </c:spPr>
          </c:dPt>
          <c:dPt>
            <c:idx val="3"/>
            <c:spPr>
              <a:solidFill>
                <a:srgbClr val="8DDEE8"/>
              </a:solidFill>
            </c:spPr>
          </c:dPt>
          <c:cat>
            <c:strRef>
              <c:f>Sheet1!$A$2:$A$5</c:f>
              <c:strCache>
                <c:ptCount val="4"/>
                <c:pt idx="0">
                  <c:v>Clasificación y enrutado</c:v>
                </c:pt>
                <c:pt idx="1">
                  <c:v>Búsqueda de solución</c:v>
                </c:pt>
                <c:pt idx="2">
                  <c:v>Documentación del cierre</c:v>
                </c:pt>
                <c:pt idx="3">
                  <c:v>Reasignaciones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0.6</c:v>
                </c:pt>
                <c:pt idx="1">
                  <c:v>0.4</c:v>
                </c:pt>
                <c:pt idx="2">
                  <c:v>0.5</c:v>
                </c:pt>
                <c:pt idx="3">
                  <c:v>0.7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2399" b="1">
                  <a:solidFill>
                    <a:srgbClr val="1E2A2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ABD6D5"/>
            </a:solidFill>
          </a:ln>
        </c:spPr>
        <c:txPr>
          <a:bodyPr/>
          <a:lstStyle/>
          <a:p>
            <a:pPr>
              <a:defRPr sz="2399">
                <a:solidFill>
                  <a:srgbClr val="1E2A2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numFmt formatCode="0%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2199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2399">
          <a:solidFill>
            <a:srgbClr val="4C6573"/>
          </a:solidFill>
          <a:latin typeface="IBM Plex Sans Ligh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E861C-486B-4E18-A0E9-A790238A915C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11066-0135-4CAA-8AD4-89A97190AC0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1pPr>
    <a:lvl2pPr marL="1088502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2pPr>
    <a:lvl3pPr marL="2177004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3pPr>
    <a:lvl4pPr marL="3265505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4pPr>
    <a:lvl5pPr marL="4354007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5pPr>
    <a:lvl6pPr marL="5442509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6pPr>
    <a:lvl7pPr marL="6531011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7pPr>
    <a:lvl8pPr marL="7619512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8pPr>
    <a:lvl9pPr marL="8708014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Contenido de ejemplo ficticio para mostrar el uso del skill con la plantilla Lean Corporate.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de contexto contractual: se lee, no se presenta.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tif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tif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ullets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422" y="1387556"/>
            <a:ext cx="21969570" cy="1433163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422" y="3108960"/>
            <a:ext cx="21969570" cy="9395556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  <p:extLst>
      <p:ext uri="{BB962C8B-B14F-4D97-AF65-F5344CB8AC3E}">
        <p14:creationId xmlns:p14="http://schemas.microsoft.com/office/powerpoint/2010/main" val="167312271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1206422" y="2372962"/>
            <a:ext cx="2196957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0" i="0">
                <a:latin typeface="IBM Plex Sans Light" panose="020B0403050000000000" pitchFamily="34" charset="77"/>
              </a:defRPr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422" y="3566160"/>
            <a:ext cx="21969570" cy="89383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/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" name="CuadroTexto 4">
            <a:extLst>
              <a:ext uri="{FF2B5EF4-FFF2-40B4-BE49-F238E27FC236}">
                <a16:creationId xmlns:a16="http://schemas.microsoft.com/office/drawing/2014/main" id="{115F9EE0-E9AB-4D35-C35F-90C7C713BE67}"/>
              </a:ext>
            </a:extLst>
          </p:cNvPr>
          <p:cNvSpPr txBox="1"/>
          <p:nvPr userDrawn="1"/>
        </p:nvSpPr>
        <p:spPr>
          <a:xfrm>
            <a:off x="23315682" y="12729239"/>
            <a:ext cx="585178" cy="7027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100" rtlCol="0" anchor="ctr">
            <a:spAutoFit/>
          </a:bodyPr>
          <a:lstStyle/>
          <a:p>
            <a:pPr algn="ctr" defTabSz="825417" hangingPunct="0">
              <a:spcBef>
                <a:spcPts val="1800"/>
              </a:spcBef>
            </a:pPr>
            <a:fld id="{E4706364-2B4E-E341-88EE-2E745FF7F201}" type="slidenum">
              <a:rPr lang="es-ES" sz="2400" b="1" kern="0" spc="-55" dirty="0">
                <a:solidFill>
                  <a:srgbClr val="1F4E5E"/>
                </a:solidFill>
                <a:latin typeface="IBM Plex Sans Light" panose="020B0403050000000000" pitchFamily="34" charset="77"/>
                <a:ea typeface="Helvetica Neue"/>
                <a:cs typeface="Helvetica Neue"/>
                <a:sym typeface="Helvetica Neue"/>
              </a:rPr>
              <a:t>‹#›</a:t>
            </a:fld>
            <a:endParaRPr lang="es-ES" sz="2400" b="1" kern="0" spc="-55" dirty="0">
              <a:solidFill>
                <a:srgbClr val="1F4E5E"/>
              </a:solidFill>
              <a:latin typeface="IBM Plex Sans Light" panose="020B0403050000000000" pitchFamily="34" charset="77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DE107C-3219-0519-DA00-F97BDAFAE4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0138" y="12340899"/>
            <a:ext cx="2691295" cy="90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24689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ulle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543994" y="1163782"/>
            <a:ext cx="18631997" cy="11340734"/>
          </a:xfrm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B1FB3D36-0C78-6B49-A2EF-6DAD8B6871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82701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ABFB5B8B-88E1-234F-8DCA-FA2FED8535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362AD5-2565-1941-B6DD-5222463AD5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4995" y="1737361"/>
            <a:ext cx="22058464" cy="10057765"/>
          </a:xfrm>
        </p:spPr>
        <p:txBody>
          <a:bodyPr>
            <a:normAutofit/>
          </a:bodyPr>
          <a:lstStyle>
            <a:lvl1pPr marL="571443" marR="0" indent="-571443" algn="l" defTabSz="2438094" rtl="0" eaLnBrk="1" fontAlgn="auto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Char char="•"/>
              <a:tabLst/>
              <a:defRPr sz="36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Proin lacinia </a:t>
            </a:r>
            <a:r>
              <a:rPr lang="en-US" err="1"/>
              <a:t>ultrices</a:t>
            </a:r>
            <a:r>
              <a:rPr lang="en-US"/>
              <a:t> ex et pulvinar. </a:t>
            </a:r>
            <a:r>
              <a:rPr lang="en-US" err="1"/>
              <a:t>Curabitur</a:t>
            </a:r>
            <a:r>
              <a:rPr lang="en-US"/>
              <a:t> id </a:t>
            </a:r>
            <a:r>
              <a:rPr lang="en-US" err="1"/>
              <a:t>sem</a:t>
            </a:r>
            <a:r>
              <a:rPr lang="en-US"/>
              <a:t> mi.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porttitor</a:t>
            </a:r>
            <a:r>
              <a:rPr lang="en-US"/>
              <a:t> lorem </a:t>
            </a:r>
            <a:r>
              <a:rPr lang="en-US" err="1"/>
              <a:t>commodo</a:t>
            </a:r>
            <a:r>
              <a:rPr lang="en-US"/>
              <a:t> ac. 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Proin lacinia </a:t>
            </a:r>
            <a:r>
              <a:rPr lang="en-US" err="1"/>
              <a:t>ultrices</a:t>
            </a:r>
            <a:r>
              <a:rPr lang="en-US"/>
              <a:t> ex et pulvinar. </a:t>
            </a:r>
            <a:r>
              <a:rPr lang="en-US" err="1"/>
              <a:t>Curabitur</a:t>
            </a:r>
            <a:r>
              <a:rPr lang="en-US"/>
              <a:t> id </a:t>
            </a:r>
            <a:r>
              <a:rPr lang="en-US" err="1"/>
              <a:t>sem</a:t>
            </a:r>
            <a:r>
              <a:rPr lang="en-US"/>
              <a:t> mi. </a:t>
            </a:r>
          </a:p>
          <a:p>
            <a:pPr lvl="0"/>
            <a:r>
              <a:rPr lang="en-US" err="1"/>
              <a:t>Xx</a:t>
            </a:r>
            <a:endParaRPr lang="en-US"/>
          </a:p>
          <a:p>
            <a:pPr lvl="0"/>
            <a:r>
              <a:rPr lang="en-US" err="1"/>
              <a:t>Xx</a:t>
            </a:r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29155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18" y="2574991"/>
            <a:ext cx="21969574" cy="4648201"/>
          </a:xfrm>
          <a:prstGeom prst="rect">
            <a:avLst/>
          </a:prstGeom>
        </p:spPr>
        <p:txBody>
          <a:bodyPr anchor="b"/>
          <a:lstStyle>
            <a:lvl1pPr algn="l">
              <a:defRPr sz="11599" spc="-232">
                <a:solidFill>
                  <a:srgbClr val="004F60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264" y="7223191"/>
            <a:ext cx="21969571" cy="1905001"/>
          </a:xfrm>
          <a:prstGeom prst="rect">
            <a:avLst/>
          </a:prstGeom>
        </p:spPr>
        <p:txBody>
          <a:bodyPr/>
          <a:lstStyle>
            <a:lvl1pPr marL="0" indent="0" algn="l" defTabSz="825417">
              <a:lnSpc>
                <a:spcPct val="100000"/>
              </a:lnSpc>
              <a:spcBef>
                <a:spcPts val="0"/>
              </a:spcBef>
              <a:buSzTx/>
              <a:buNone/>
              <a:defRPr sz="4800" b="0" i="0">
                <a:solidFill>
                  <a:srgbClr val="08BED4"/>
                </a:solidFill>
                <a:latin typeface="IBM Plex Sans Light" panose="020B0403050000000000" pitchFamily="34" charset="77"/>
              </a:defRPr>
            </a:lvl1pPr>
            <a:lvl2pPr marL="0" indent="0" algn="l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08BED4"/>
                </a:solidFill>
              </a:defRPr>
            </a:lvl2pPr>
            <a:lvl3pPr marL="0" indent="0" algn="l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08BED4"/>
                </a:solidFill>
              </a:defRPr>
            </a:lvl3pPr>
            <a:lvl4pPr marL="0" indent="0" algn="l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08BED4"/>
                </a:solidFill>
              </a:defRPr>
            </a:lvl4pPr>
            <a:lvl5pPr marL="0" indent="0" algn="l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08BED4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2CECF1-38DB-DBA9-F2A1-5EDF471914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0138" y="11788279"/>
            <a:ext cx="4715620" cy="158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42907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609F43A-AD53-DB4B-B031-F5518E6443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1386" y="11709400"/>
            <a:ext cx="4953124" cy="1746179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713A3B6-F42E-B344-9A13-00C7C22385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54994" y="5370354"/>
            <a:ext cx="15993021" cy="2122488"/>
          </a:xfrm>
        </p:spPr>
        <p:txBody>
          <a:bodyPr>
            <a:noAutofit/>
          </a:bodyPr>
          <a:lstStyle>
            <a:lvl1pPr marL="0" marR="0" indent="0" algn="l" defTabSz="2438094" rtl="0" eaLnBrk="1" fontAlgn="auto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14999" b="1"/>
            </a:lvl1pPr>
          </a:lstStyle>
          <a:p>
            <a:pPr marL="0" marR="0" lvl="0" indent="0" algn="l" defTabSz="2438094" rtl="0" eaLnBrk="1" fontAlgn="auto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/>
            </a:pPr>
            <a:r>
              <a:rPr lang="en-GB"/>
              <a:t>insert title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662600-C864-2147-BC6E-3FD45F43EF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54994" y="7492842"/>
            <a:ext cx="7771894" cy="952500"/>
          </a:xfrm>
        </p:spPr>
        <p:txBody>
          <a:bodyPr/>
          <a:lstStyle>
            <a:lvl1pPr marL="0" indent="0">
              <a:buNone/>
              <a:defRPr b="0" i="0">
                <a:solidFill>
                  <a:srgbClr val="08BED4"/>
                </a:solidFill>
                <a:latin typeface="IBM Plex Sans Light" panose="020B0403050000000000" pitchFamily="34" charset="77"/>
              </a:defRPr>
            </a:lvl1pPr>
          </a:lstStyle>
          <a:p>
            <a:pPr lvl="0"/>
            <a:r>
              <a:rPr lang="en-US"/>
              <a:t>XX January 2021</a:t>
            </a:r>
          </a:p>
        </p:txBody>
      </p:sp>
    </p:spTree>
    <p:extLst>
      <p:ext uri="{BB962C8B-B14F-4D97-AF65-F5344CB8AC3E}">
        <p14:creationId xmlns:p14="http://schemas.microsoft.com/office/powerpoint/2010/main" val="212881070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4543995" y="3951614"/>
            <a:ext cx="9654835" cy="114685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999"/>
            </a:lvl1pPr>
          </a:lstStyle>
          <a:p>
            <a:r>
              <a:t>Agenda 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543994" y="5386715"/>
            <a:ext cx="18631997" cy="7406043"/>
          </a:xfrm>
          <a:prstGeom prst="rect">
            <a:avLst/>
          </a:prstGeom>
        </p:spPr>
        <p:txBody>
          <a:bodyPr/>
          <a:lstStyle>
            <a:lvl1pPr marL="571443" indent="-571443" defTabSz="825417">
              <a:lnSpc>
                <a:spcPct val="100000"/>
              </a:lnSpc>
              <a:spcBef>
                <a:spcPts val="1800"/>
              </a:spcBef>
              <a:buSzTx/>
              <a:buFont typeface="Arial" panose="020B0604020202020204" pitchFamily="34" charset="0"/>
              <a:buChar char="•"/>
              <a:defRPr sz="4000" b="0" i="0" spc="-55">
                <a:solidFill>
                  <a:srgbClr val="1F4E5E"/>
                </a:solidFill>
                <a:latin typeface="IBM Plex Sans Light" panose="020B0403050000000000" pitchFamily="34" charset="77"/>
              </a:defRPr>
            </a:lvl1pPr>
            <a:lvl2pPr marL="0" indent="0" defTabSz="825417">
              <a:lnSpc>
                <a:spcPct val="100000"/>
              </a:lnSpc>
              <a:spcBef>
                <a:spcPts val="1800"/>
              </a:spcBef>
              <a:buSzTx/>
              <a:buNone/>
              <a:defRPr sz="5499" spc="-55">
                <a:solidFill>
                  <a:srgbClr val="1F4E5E"/>
                </a:solidFill>
              </a:defRPr>
            </a:lvl2pPr>
            <a:lvl3pPr marL="0" indent="0" defTabSz="825417">
              <a:lnSpc>
                <a:spcPct val="100000"/>
              </a:lnSpc>
              <a:spcBef>
                <a:spcPts val="1800"/>
              </a:spcBef>
              <a:buSzTx/>
              <a:buNone/>
              <a:defRPr sz="5499" spc="-55">
                <a:solidFill>
                  <a:srgbClr val="1F4E5E"/>
                </a:solidFill>
              </a:defRPr>
            </a:lvl3pPr>
            <a:lvl4pPr marL="0" indent="0" defTabSz="825417">
              <a:lnSpc>
                <a:spcPct val="100000"/>
              </a:lnSpc>
              <a:spcBef>
                <a:spcPts val="1800"/>
              </a:spcBef>
              <a:buSzTx/>
              <a:buNone/>
              <a:defRPr sz="5499" spc="-55">
                <a:solidFill>
                  <a:srgbClr val="1F4E5E"/>
                </a:solidFill>
              </a:defRPr>
            </a:lvl4pPr>
            <a:lvl5pPr marL="0" indent="0" defTabSz="825417">
              <a:lnSpc>
                <a:spcPct val="100000"/>
              </a:lnSpc>
              <a:spcBef>
                <a:spcPts val="1800"/>
              </a:spcBef>
              <a:buSzTx/>
              <a:buNone/>
              <a:defRPr sz="5499" spc="-55">
                <a:solidFill>
                  <a:srgbClr val="1F4E5E"/>
                </a:solidFill>
              </a:defRPr>
            </a:lvl5pPr>
          </a:lstStyle>
          <a:p>
            <a:r>
              <a:t>Agenda Topics</a:t>
            </a:r>
            <a:endParaRPr lang="en-GB"/>
          </a:p>
          <a:p>
            <a:r>
              <a:rPr lang="en-GB" err="1"/>
              <a:t>Xx</a:t>
            </a:r>
            <a:endParaRPr lang="en-GB"/>
          </a:p>
          <a:p>
            <a:r>
              <a:rPr lang="en-GB" err="1"/>
              <a:t>Xx</a:t>
            </a:r>
            <a:endParaRPr/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3ECDA4-EF5D-4C7E-3B70-070C14BA53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0138" y="12340899"/>
            <a:ext cx="2691295" cy="90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96897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364BB925-7324-4645-ACAD-ACDD22401A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A4862A-7AAD-2E4D-9A0E-CEFE08D93C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6422" y="6141419"/>
            <a:ext cx="21969570" cy="1433163"/>
          </a:xfrm>
        </p:spPr>
        <p:txBody>
          <a:bodyPr>
            <a:normAutofit/>
          </a:bodyPr>
          <a:lstStyle>
            <a:lvl1pPr>
              <a:defRPr sz="8499" b="1" i="0">
                <a:latin typeface="IBM Plex Sans" panose="020B0503050000000000" pitchFamily="34" charset="77"/>
              </a:defRPr>
            </a:lvl1pPr>
          </a:lstStyle>
          <a:p>
            <a:r>
              <a:rPr lang="en-GB"/>
              <a:t>Divider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6235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&amp; Image/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>
            <a:spLocks noGrp="1"/>
          </p:cNvSpPr>
          <p:nvPr>
            <p:ph type="pic" idx="13"/>
          </p:nvPr>
        </p:nvSpPr>
        <p:spPr>
          <a:xfrm>
            <a:off x="10972086" y="2881745"/>
            <a:ext cx="12144047" cy="956425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421" y="2881745"/>
            <a:ext cx="9778364" cy="4270528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421" y="7060576"/>
            <a:ext cx="9778364" cy="5385424"/>
          </a:xfrm>
          <a:prstGeom prst="rect">
            <a:avLst/>
          </a:prstGeom>
        </p:spPr>
        <p:txBody>
          <a:bodyPr/>
          <a:lstStyle>
            <a:lvl1pPr marL="0" indent="0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0" i="0">
                <a:solidFill>
                  <a:srgbClr val="1F4E5E"/>
                </a:solidFill>
                <a:latin typeface="IBM Plex Sans Light" panose="020B0403050000000000" pitchFamily="34" charset="77"/>
              </a:defRPr>
            </a:lvl1pPr>
            <a:lvl2pPr marL="0" indent="0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1F4E5E"/>
                </a:solidFill>
              </a:defRPr>
            </a:lvl2pPr>
            <a:lvl3pPr marL="0" indent="0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1F4E5E"/>
                </a:solidFill>
              </a:defRPr>
            </a:lvl3pPr>
            <a:lvl4pPr marL="0" indent="0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1F4E5E"/>
                </a:solidFill>
              </a:defRPr>
            </a:lvl4pPr>
            <a:lvl5pPr marL="0" indent="0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1F4E5E"/>
                </a:solidFill>
              </a:defRPr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6" name="Picture 5" descr="Logo, company name&#10;&#10;Description automatically generated">
            <a:extLst>
              <a:ext uri="{FF2B5EF4-FFF2-40B4-BE49-F238E27FC236}">
                <a16:creationId xmlns:a16="http://schemas.microsoft.com/office/drawing/2014/main" id="{290A7C8A-2B87-464A-B781-3B296DD66C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8112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creen Shot 2021-01-18 at 7.06.18 PM.png">
            <a:extLst>
              <a:ext uri="{FF2B5EF4-FFF2-40B4-BE49-F238E27FC236}">
                <a16:creationId xmlns:a16="http://schemas.microsoft.com/office/drawing/2014/main" id="{1F056608-931C-8B42-86AA-5D41522E56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47" r="20491" b="11647"/>
          <a:stretch/>
        </p:blipFill>
        <p:spPr>
          <a:xfrm>
            <a:off x="9575177" y="0"/>
            <a:ext cx="14807236" cy="13716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094" y="0"/>
                </a:moveTo>
                <a:cubicBezTo>
                  <a:pt x="4017" y="4839"/>
                  <a:pt x="2321" y="10016"/>
                  <a:pt x="1415" y="13679"/>
                </a:cubicBezTo>
                <a:cubicBezTo>
                  <a:pt x="953" y="15548"/>
                  <a:pt x="385" y="18847"/>
                  <a:pt x="0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6094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" name="Picture 5" descr="Logo, company name&#10;&#10;Description automatically generated">
            <a:extLst>
              <a:ext uri="{FF2B5EF4-FFF2-40B4-BE49-F238E27FC236}">
                <a16:creationId xmlns:a16="http://schemas.microsoft.com/office/drawing/2014/main" id="{9BF1E2D7-D790-3045-BFE1-3FFC019B6C0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9C0B755-CE02-B946-99A3-2153765E3C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8719" y="2222500"/>
            <a:ext cx="7695699" cy="9271000"/>
          </a:xfrm>
        </p:spPr>
        <p:txBody>
          <a:bodyPr anchor="ctr">
            <a:normAutofit/>
          </a:bodyPr>
          <a:lstStyle>
            <a:lvl1pPr marL="0" indent="0">
              <a:buNone/>
              <a:defRPr sz="3600" b="0" i="0">
                <a:solidFill>
                  <a:srgbClr val="1F4E5E"/>
                </a:solidFill>
                <a:latin typeface="IBM Plex Sans Light" panose="020B0403050000000000" pitchFamily="34" charset="77"/>
              </a:defRPr>
            </a:lvl1pPr>
          </a:lstStyle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at </a:t>
            </a:r>
            <a:r>
              <a:rPr lang="en-GB" err="1"/>
              <a:t>massa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sollicitudin</a:t>
            </a:r>
            <a:r>
              <a:rPr lang="en-GB"/>
              <a:t>. Cras </a:t>
            </a:r>
            <a:r>
              <a:rPr lang="en-GB" err="1"/>
              <a:t>lobortis</a:t>
            </a:r>
            <a:r>
              <a:rPr lang="en-GB"/>
              <a:t> semper </a:t>
            </a:r>
            <a:r>
              <a:rPr lang="en-GB" err="1"/>
              <a:t>purus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auctor.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90DEB-9CBB-9440-B7F1-75CD6B0EA3A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3989410" y="2222500"/>
            <a:ext cx="9244284" cy="9271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79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1804848465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Image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creen Shot 2021-01-18 at 7.06.18 PM.png">
            <a:extLst>
              <a:ext uri="{FF2B5EF4-FFF2-40B4-BE49-F238E27FC236}">
                <a16:creationId xmlns:a16="http://schemas.microsoft.com/office/drawing/2014/main" id="{1F056608-931C-8B42-86AA-5D41522E56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47" r="20491" b="11647"/>
          <a:stretch/>
        </p:blipFill>
        <p:spPr>
          <a:xfrm>
            <a:off x="9575177" y="0"/>
            <a:ext cx="14807236" cy="13716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094" y="0"/>
                </a:moveTo>
                <a:cubicBezTo>
                  <a:pt x="4017" y="4839"/>
                  <a:pt x="2321" y="10016"/>
                  <a:pt x="1415" y="13679"/>
                </a:cubicBezTo>
                <a:cubicBezTo>
                  <a:pt x="953" y="15548"/>
                  <a:pt x="385" y="18847"/>
                  <a:pt x="0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6094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" name="Picture 5" descr="Logo, company name&#10;&#10;Description automatically generated">
            <a:extLst>
              <a:ext uri="{FF2B5EF4-FFF2-40B4-BE49-F238E27FC236}">
                <a16:creationId xmlns:a16="http://schemas.microsoft.com/office/drawing/2014/main" id="{9BF1E2D7-D790-3045-BFE1-3FFC019B6C0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1557E-F28F-E243-8866-F5649EB270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15333" y="2881402"/>
            <a:ext cx="6422607" cy="7453313"/>
          </a:xfrm>
        </p:spPr>
        <p:txBody>
          <a:bodyPr>
            <a:noAutofit/>
          </a:bodyPr>
          <a:lstStyle>
            <a:lvl1pPr marL="0" indent="0">
              <a:buNone/>
              <a:defRPr sz="13799" b="1"/>
            </a:lvl1pPr>
          </a:lstStyle>
          <a:p>
            <a:pPr lvl="0"/>
            <a:r>
              <a:rPr lang="en-US"/>
              <a:t>Insert short header here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F6B0DCE-F690-8942-BD0C-A625CDAA9D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3943693" y="2222500"/>
            <a:ext cx="9290001" cy="9271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79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54279753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/Ch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ert 4 word…">
            <a:extLst>
              <a:ext uri="{FF2B5EF4-FFF2-40B4-BE49-F238E27FC236}">
                <a16:creationId xmlns:a16="http://schemas.microsoft.com/office/drawing/2014/main" id="{BC1A8CE5-D5A6-1142-8978-EF2EF1007E5F}"/>
              </a:ext>
            </a:extLst>
          </p:cNvPr>
          <p:cNvSpPr txBox="1"/>
          <p:nvPr userDrawn="1"/>
        </p:nvSpPr>
        <p:spPr>
          <a:xfrm>
            <a:off x="13965176" y="6122895"/>
            <a:ext cx="8780000" cy="970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9527" tIns="59527" rIns="59527" bIns="59527">
            <a:spAutoFit/>
          </a:bodyPr>
          <a:lstStyle/>
          <a:p>
            <a:pPr algn="ctr" defTabSz="684541">
              <a:lnSpc>
                <a:spcPct val="70000"/>
              </a:lnSpc>
              <a:spcBef>
                <a:spcPts val="0"/>
              </a:spcBef>
              <a:defRPr sz="14000" spc="-419">
                <a:solidFill>
                  <a:srgbClr val="204E5E"/>
                </a:solidFill>
                <a:latin typeface="IBM Plex Sans SmBld"/>
                <a:ea typeface="IBM Plex Sans SmBld"/>
                <a:cs typeface="IBM Plex Sans SmBld"/>
                <a:sym typeface="IBM Plex Sans SemiBold"/>
              </a:defRPr>
            </a:pPr>
            <a:r>
              <a:rPr lang="en-US" sz="7499">
                <a:solidFill>
                  <a:schemeClr val="bg1"/>
                </a:solidFill>
              </a:rPr>
              <a:t>Insert image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AA8A30-E2CE-9C40-A366-E1BE5AFF814E}"/>
              </a:ext>
            </a:extLst>
          </p:cNvPr>
          <p:cNvSpPr/>
          <p:nvPr userDrawn="1"/>
        </p:nvSpPr>
        <p:spPr>
          <a:xfrm>
            <a:off x="7857614" y="6638391"/>
            <a:ext cx="15891121" cy="595035"/>
          </a:xfrm>
          <a:prstGeom prst="rect">
            <a:avLst/>
          </a:prstGeom>
          <a:solidFill>
            <a:srgbClr val="28272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100" rtlCol="0" anchor="ctr">
            <a:spAutoFit/>
          </a:bodyPr>
          <a:lstStyle/>
          <a:p>
            <a:pPr marL="0" marR="0" indent="0" algn="ctr" defTabSz="8254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FAB10B96-5ED0-6744-B4B8-E74E3B713C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23F0701-4D8B-364E-BE81-BCAE914D936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343357" y="2222500"/>
            <a:ext cx="14890337" cy="9271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79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image here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5C0B4646-1B4A-6F44-B425-EF95D026AD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6084" y="4663806"/>
            <a:ext cx="6076489" cy="6761114"/>
          </a:xfrm>
        </p:spPr>
        <p:txBody>
          <a:bodyPr anchor="t">
            <a:normAutofit/>
          </a:bodyPr>
          <a:lstStyle>
            <a:lvl1pPr marL="0" marR="0" indent="0" algn="l" defTabSz="2438094" rtl="0" eaLnBrk="1" fontAlgn="auto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2800" b="0" i="0">
                <a:solidFill>
                  <a:srgbClr val="1F4E5E"/>
                </a:solidFill>
                <a:latin typeface="IBM Plex Sans Light" panose="020B0403050000000000" pitchFamily="34" charset="77"/>
              </a:defRPr>
            </a:lvl1pPr>
          </a:lstStyle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at </a:t>
            </a:r>
            <a:r>
              <a:rPr lang="en-GB" err="1"/>
              <a:t>massa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sollicitudin</a:t>
            </a:r>
            <a:r>
              <a:rPr lang="en-GB"/>
              <a:t>. Cras </a:t>
            </a:r>
            <a:r>
              <a:rPr lang="en-GB" err="1"/>
              <a:t>lobortis</a:t>
            </a:r>
            <a:r>
              <a:rPr lang="en-GB"/>
              <a:t> semper </a:t>
            </a:r>
            <a:r>
              <a:rPr lang="en-GB" err="1"/>
              <a:t>purus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auctor.</a:t>
            </a:r>
          </a:p>
          <a:p>
            <a:pPr marL="0" marR="0" lvl="0" indent="0" algn="l" defTabSz="2438094" rtl="0" eaLnBrk="1" fontAlgn="auto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at </a:t>
            </a:r>
            <a:r>
              <a:rPr lang="en-GB" err="1"/>
              <a:t>massa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sollicitudin</a:t>
            </a:r>
            <a:r>
              <a:rPr lang="en-GB"/>
              <a:t>. Cras </a:t>
            </a:r>
            <a:r>
              <a:rPr lang="en-GB" err="1"/>
              <a:t>lobortis</a:t>
            </a:r>
            <a:r>
              <a:rPr lang="en-GB"/>
              <a:t> semper </a:t>
            </a:r>
            <a:r>
              <a:rPr lang="en-GB" err="1"/>
              <a:t>purus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auctor.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E2859-E77B-F243-880F-1CE426F4A3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66084" y="4022775"/>
            <a:ext cx="6076554" cy="777875"/>
          </a:xfrm>
        </p:spPr>
        <p:txBody>
          <a:bodyPr>
            <a:normAutofit/>
          </a:bodyPr>
          <a:lstStyle>
            <a:lvl1pPr marL="0" indent="0">
              <a:buNone/>
              <a:defRPr sz="3500" b="1">
                <a:solidFill>
                  <a:srgbClr val="08BED4"/>
                </a:solidFill>
              </a:defRPr>
            </a:lvl1pPr>
          </a:lstStyle>
          <a:p>
            <a:pPr lvl="0"/>
            <a:r>
              <a:rPr lang="en-US"/>
              <a:t>headline in semi bold</a:t>
            </a:r>
          </a:p>
        </p:txBody>
      </p:sp>
    </p:spTree>
    <p:extLst>
      <p:ext uri="{BB962C8B-B14F-4D97-AF65-F5344CB8AC3E}">
        <p14:creationId xmlns:p14="http://schemas.microsoft.com/office/powerpoint/2010/main" val="2031413974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hort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1220F6C6-BA62-3B4E-80C7-E80C26ED72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B529312-1F18-C640-A134-A6E501C0EB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591902" y="357810"/>
            <a:ext cx="8292008" cy="12889629"/>
          </a:xfrm>
        </p:spPr>
        <p:txBody>
          <a:bodyPr anchor="ctr">
            <a:normAutofit/>
          </a:bodyPr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IBM Plex Sans Light" panose="020B0403050000000000" pitchFamily="34" charset="77"/>
              </a:defRPr>
            </a:lvl1pPr>
          </a:lstStyle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at </a:t>
            </a:r>
            <a:r>
              <a:rPr lang="en-GB" err="1"/>
              <a:t>massa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sollicitudin</a:t>
            </a:r>
            <a:r>
              <a:rPr lang="en-GB"/>
              <a:t>. Cras </a:t>
            </a:r>
            <a:r>
              <a:rPr lang="en-GB" err="1"/>
              <a:t>lobortis</a:t>
            </a:r>
            <a:r>
              <a:rPr lang="en-GB"/>
              <a:t> semper </a:t>
            </a:r>
            <a:r>
              <a:rPr lang="en-GB" err="1"/>
              <a:t>purus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auctor.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0A29DAD-537A-D24C-AAC3-CF6629E6E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8502" y="3292889"/>
            <a:ext cx="7161782" cy="7130222"/>
          </a:xfrm>
        </p:spPr>
        <p:txBody>
          <a:bodyPr anchor="ctr">
            <a:noAutofit/>
          </a:bodyPr>
          <a:lstStyle>
            <a:lvl1pPr>
              <a:defRPr sz="13999" b="1" i="0">
                <a:solidFill>
                  <a:srgbClr val="1F4E5E"/>
                </a:solidFill>
                <a:latin typeface="IBM Plex Sans SmBld" panose="020B0503050000000000" pitchFamily="34" charset="77"/>
              </a:defRPr>
            </a:lvl1pPr>
          </a:lstStyle>
          <a:p>
            <a:r>
              <a:rPr lang="en-GB"/>
              <a:t>insert short header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62919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&amp; Short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6336F0-8123-FB47-900F-6B5D7DCF93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680245" y="2209799"/>
            <a:ext cx="8787828" cy="9296400"/>
          </a:xfrm>
        </p:spPr>
        <p:txBody>
          <a:bodyPr anchor="ctr">
            <a:normAutofit/>
          </a:bodyPr>
          <a:lstStyle>
            <a:lvl1pPr marL="0" indent="0">
              <a:buNone/>
              <a:defRPr sz="4400" b="0" i="0">
                <a:solidFill>
                  <a:schemeClr val="bg1"/>
                </a:solidFill>
                <a:latin typeface="IBM Plex Sans Light" panose="020B0403050000000000" pitchFamily="34" charset="77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Proin lacinia </a:t>
            </a:r>
            <a:r>
              <a:rPr lang="en-US" err="1"/>
              <a:t>ultrices</a:t>
            </a:r>
            <a:r>
              <a:rPr lang="en-US"/>
              <a:t> ex et pulvinar. </a:t>
            </a:r>
            <a:r>
              <a:rPr lang="en-US" err="1"/>
              <a:t>Curabitur</a:t>
            </a:r>
            <a:r>
              <a:rPr lang="en-US"/>
              <a:t> id </a:t>
            </a:r>
            <a:r>
              <a:rPr lang="en-US" err="1"/>
              <a:t>sem</a:t>
            </a:r>
            <a:r>
              <a:rPr lang="en-US"/>
              <a:t> mi.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161B95-642A-1E51-9CF9-3AA83C78E5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46826" y="5785764"/>
            <a:ext cx="6366399" cy="214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4962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/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C8C2CD3-EE79-9E40-B4A6-8B493A8742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950801-81C2-504C-8A5B-3FD18241F3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0173" y="6141419"/>
            <a:ext cx="21969570" cy="1433163"/>
          </a:xfrm>
        </p:spPr>
        <p:txBody>
          <a:bodyPr>
            <a:normAutofit/>
          </a:bodyPr>
          <a:lstStyle>
            <a:lvl1pPr algn="ctr">
              <a:defRPr sz="7999"/>
            </a:lvl1pPr>
          </a:lstStyle>
          <a:p>
            <a:r>
              <a:rPr lang="en-GB"/>
              <a:t>insert short quote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4284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7C1444B-5BCB-0E4F-A8C9-7B8719032B2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27377" y="7545504"/>
            <a:ext cx="4346682" cy="15323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32246-6ED4-9D46-B382-B78930C4C6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0195" y="5743490"/>
            <a:ext cx="17441045" cy="2921000"/>
          </a:xfrm>
        </p:spPr>
        <p:txBody>
          <a:bodyPr>
            <a:noAutofit/>
          </a:bodyPr>
          <a:lstStyle>
            <a:lvl1pPr marL="0" indent="0" algn="ctr">
              <a:buNone/>
              <a:defRPr sz="11499" b="1"/>
            </a:lvl1pPr>
          </a:lstStyle>
          <a:p>
            <a:pPr lvl="0"/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85999852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422" y="1079501"/>
            <a:ext cx="2196957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422" y="3040380"/>
            <a:ext cx="21969570" cy="9464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  <p:extLst>
      <p:ext uri="{BB962C8B-B14F-4D97-AF65-F5344CB8AC3E}">
        <p14:creationId xmlns:p14="http://schemas.microsoft.com/office/powerpoint/2010/main" val="638605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</p:sldLayoutIdLst>
  <p:transition spd="med"/>
  <p:txStyles>
    <p:titleStyle>
      <a:lvl1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8BED4"/>
          </a:solidFill>
          <a:uFillTx/>
          <a:latin typeface="IBM Plex Sans" panose="020B0503050000000000" pitchFamily="34" charset="77"/>
          <a:ea typeface="+mn-ea"/>
          <a:cs typeface="+mn-cs"/>
          <a:sym typeface="Helvetica Neue"/>
        </a:defRPr>
      </a:lvl1pPr>
      <a:lvl2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539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1F4E5E"/>
          </a:solidFill>
          <a:uFillTx/>
          <a:latin typeface="IBM Plex Sans" panose="020B0503050000000000" pitchFamily="34" charset="77"/>
          <a:ea typeface="+mn-ea"/>
          <a:cs typeface="+mn-cs"/>
          <a:sym typeface="Helvetica Neue"/>
        </a:defRPr>
      </a:lvl1pPr>
      <a:lvl2pPr marL="1219078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1F4E5E"/>
          </a:solidFill>
          <a:uFillTx/>
          <a:latin typeface="+mn-lt"/>
          <a:ea typeface="+mn-ea"/>
          <a:cs typeface="+mn-cs"/>
          <a:sym typeface="Helvetica Neue"/>
        </a:defRPr>
      </a:lvl2pPr>
      <a:lvl3pPr marL="1828617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1F4E5E"/>
          </a:solidFill>
          <a:uFillTx/>
          <a:latin typeface="+mn-lt"/>
          <a:ea typeface="+mn-ea"/>
          <a:cs typeface="+mn-cs"/>
          <a:sym typeface="Helvetica Neue"/>
        </a:defRPr>
      </a:lvl3pPr>
      <a:lvl4pPr marL="2438156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1F4E5E"/>
          </a:solidFill>
          <a:uFillTx/>
          <a:latin typeface="+mn-lt"/>
          <a:ea typeface="+mn-ea"/>
          <a:cs typeface="+mn-cs"/>
          <a:sym typeface="Helvetica Neue"/>
        </a:defRPr>
      </a:lvl4pPr>
      <a:lvl5pPr marL="3047695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1F4E5E"/>
          </a:solidFill>
          <a:uFillTx/>
          <a:latin typeface="+mn-lt"/>
          <a:ea typeface="+mn-ea"/>
          <a:cs typeface="+mn-cs"/>
          <a:sym typeface="Helvetica Neue"/>
        </a:defRPr>
      </a:lvl5pPr>
      <a:lvl6pPr marL="3657234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6773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312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5851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6418" y="2574991"/>
            <a:ext cx="18653012" cy="4648201"/>
          </a:xfrm>
        </p:spPr>
        <p:txBody>
          <a:bodyPr/>
          <a:lstStyle/>
          <a:p>
            <a:r>
              <a:rPr sz="11599" b="1">
                <a:latin typeface="IBM Plex Sans"/>
              </a:rPr>
              <a:t>Oferta de Servicios Lean 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>
          <a:xfrm>
            <a:off x="1201264" y="7223191"/>
            <a:ext cx="14629813" cy="3157093"/>
          </a:xfrm>
        </p:spPr>
        <p:txBody>
          <a:bodyPr/>
          <a:lstStyle/>
          <a:p>
            <a:r>
              <a:rPr sz="5499" b="1">
                <a:latin typeface="IBM Plex Sans"/>
              </a:rPr>
              <a:t>CR2026-045 Agentes IA para Gestión de Incidencias</a:t>
            </a:r>
          </a:p>
          <a:p>
            <a:pPr>
              <a:spcBef>
                <a:spcPts val="1199"/>
              </a:spcBef>
            </a:pPr>
            <a:r>
              <a:rPr sz="4799">
                <a:latin typeface="IBM Plex Sans Light"/>
              </a:rPr>
              <a:t>v1.0 / 27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5999" b="1">
                <a:latin typeface="IBM Plex Sans"/>
              </a:rPr>
              <a:t>Contenido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41214" indent="-841214">
              <a:buAutoNum type="arabicPeriod"/>
            </a:pPr>
            <a:r>
              <a:rPr sz="3399">
                <a:latin typeface="IBM Plex Sans Light"/>
              </a:rPr>
              <a:t>Introducción</a:t>
            </a:r>
          </a:p>
          <a:p>
            <a:pPr marL="841214" indent="-841214">
              <a:spcBef>
                <a:spcPts val="1529"/>
              </a:spcBef>
              <a:buAutoNum type="arabicPeriod"/>
            </a:pPr>
            <a:r>
              <a:rPr sz="3399">
                <a:latin typeface="IBM Plex Sans Light"/>
              </a:rPr>
              <a:t>Antecedentes y Objetivos</a:t>
            </a:r>
          </a:p>
          <a:p>
            <a:pPr marL="841214" indent="-841214">
              <a:spcBef>
                <a:spcPts val="1529"/>
              </a:spcBef>
              <a:buAutoNum type="arabicPeriod"/>
            </a:pPr>
            <a:r>
              <a:rPr sz="3399">
                <a:latin typeface="IBM Plex Sans Light"/>
              </a:rPr>
              <a:t>Caso de Uso “Gestión de Incidencias”</a:t>
            </a:r>
          </a:p>
          <a:p>
            <a:pPr marL="841214" indent="-841214">
              <a:spcBef>
                <a:spcPts val="1529"/>
              </a:spcBef>
              <a:buAutoNum type="arabicPeriod"/>
            </a:pPr>
            <a:r>
              <a:rPr sz="3399">
                <a:latin typeface="IBM Plex Sans Light"/>
              </a:rPr>
              <a:t>Plan de Implantación</a:t>
            </a:r>
          </a:p>
          <a:p>
            <a:pPr marL="841214" indent="-841214">
              <a:spcBef>
                <a:spcPts val="1529"/>
              </a:spcBef>
              <a:buAutoNum type="arabicPeriod"/>
            </a:pPr>
            <a:r>
              <a:rPr sz="3399">
                <a:latin typeface="IBM Plex Sans Light"/>
              </a:rPr>
              <a:t>Modelo Económico</a:t>
            </a:r>
          </a:p>
          <a:p>
            <a:pPr marL="841214" indent="-841214">
              <a:spcBef>
                <a:spcPts val="1529"/>
              </a:spcBef>
              <a:buAutoNum type="arabicPeriod"/>
            </a:pPr>
            <a:r>
              <a:rPr sz="3399">
                <a:latin typeface="IBM Plex Sans Light"/>
              </a:rPr>
              <a:t>Términos y Condiciones</a:t>
            </a:r>
          </a:p>
          <a:p>
            <a:pPr marL="841214" indent="-841214">
              <a:spcBef>
                <a:spcPts val="1529"/>
              </a:spcBef>
              <a:buAutoNum type="arabicPeriod"/>
            </a:pPr>
            <a:r>
              <a:rPr sz="3399">
                <a:latin typeface="IBM Plex Sans Light"/>
              </a:rPr>
              <a:t>Perfiles Tipo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8499" b="1">
                <a:latin typeface="IBM Plex Sans"/>
              </a:rPr>
              <a:t>1. Introducción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1206422" y="2372962"/>
            <a:ext cx="21969570" cy="934780"/>
          </a:xfrm>
        </p:spPr>
        <p:txBody>
          <a:bodyPr/>
          <a:lstStyle/>
          <a:p>
            <a:r>
              <a:rPr sz="5499">
                <a:latin typeface="IBM Plex Sans Light"/>
              </a:rPr>
              <a:t>Solicitud de Cambio de 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6959" y="3566017"/>
            <a:ext cx="21968493" cy="81744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1439"/>
              </a:spcAft>
              <a:buNone/>
            </a:pPr>
            <a:r>
              <a:rPr sz="3199" b="0" i="0">
                <a:solidFill>
                  <a:srgbClr val="1E2A2F"/>
                </a:solidFill>
                <a:latin typeface="IBM Plex Sans Light"/>
              </a:rPr>
              <a:t>Se solicita por parte del Cliente, en la </a:t>
            </a:r>
            <a:r>
              <a:rPr sz="3199" b="1" i="0">
                <a:solidFill>
                  <a:srgbClr val="1E2A2F"/>
                </a:solidFill>
                <a:latin typeface="IBM Plex Sans"/>
              </a:rPr>
              <a:t>“CR2026-045 Agentes IA para Gestión de Incidencias”</a:t>
            </a:r>
            <a:r>
              <a:rPr sz="3199" b="0" i="0">
                <a:solidFill>
                  <a:srgbClr val="1E2A2F"/>
                </a:solidFill>
                <a:latin typeface="IBM Plex Sans Light"/>
              </a:rPr>
              <a:t>, la realización de actividades adicionales por cambio de alcance en el proyecto ejecutado por Lean Corporate Services, S.L.:</a:t>
            </a:r>
          </a:p>
          <a:p>
            <a:pPr algn="l" marL="512043" indent="-512043">
              <a:lnSpc>
                <a:spcPct val="105000"/>
              </a:lnSpc>
              <a:spcAft>
                <a:spcPts val="1439"/>
              </a:spcAft>
              <a:buClr>
                <a:srgbClr val="08BED4"/>
              </a:buClr>
              <a:buSzPct val="100000"/>
              <a:buFont typeface="Arial"/>
              <a:buChar char="▪"/>
            </a:pPr>
            <a:r>
              <a:rPr sz="3199" b="1" i="0">
                <a:solidFill>
                  <a:srgbClr val="1E2A2F"/>
                </a:solidFill>
                <a:latin typeface="IBM Plex Sans"/>
              </a:rPr>
              <a:t>Caso de Uso “Gestión de Incidencias”</a:t>
            </a:r>
            <a:r>
              <a:rPr sz="3199" b="0" i="0">
                <a:solidFill>
                  <a:srgbClr val="1E2A2F"/>
                </a:solidFill>
                <a:latin typeface="IBM Plex Sans Light"/>
              </a:rPr>
              <a:t>, consistente en la implantación de una solución basada en Agentes IA que clasifique, enriquezca y proponga la resolución de las incidencias de primer nivel.</a:t>
            </a:r>
          </a:p>
          <a:p>
            <a:pPr algn="l" marL="512043" indent="-512043">
              <a:lnSpc>
                <a:spcPct val="105000"/>
              </a:lnSpc>
              <a:spcAft>
                <a:spcPts val="1439"/>
              </a:spcAft>
              <a:buClr>
                <a:srgbClr val="08BED4"/>
              </a:buClr>
              <a:buSzPct val="100000"/>
              <a:buFont typeface="Arial"/>
              <a:buChar char="▪"/>
            </a:pPr>
            <a:r>
              <a:rPr sz="3199" b="1" i="0">
                <a:solidFill>
                  <a:srgbClr val="1E2A2F"/>
                </a:solidFill>
                <a:latin typeface="IBM Plex Sans"/>
              </a:rPr>
              <a:t>Base de conocimiento de soluciones</a:t>
            </a:r>
            <a:r>
              <a:rPr sz="3199" b="0" i="0">
                <a:solidFill>
                  <a:srgbClr val="1E2A2F"/>
                </a:solidFill>
                <a:latin typeface="IBM Plex Sans Light"/>
              </a:rPr>
              <a:t>, que consolide las resoluciones históricas para su reutilización por los agentes y por el equipo de soporte.</a:t>
            </a:r>
          </a:p>
          <a:p>
            <a:pPr algn="l" marL="0" indent="0">
              <a:lnSpc>
                <a:spcPct val="105000"/>
              </a:lnSpc>
              <a:spcAft>
                <a:spcPts val="1439"/>
              </a:spcAft>
              <a:buNone/>
            </a:pPr>
            <a:r>
              <a:rPr sz="3199" b="0" i="0">
                <a:solidFill>
                  <a:srgbClr val="1E2A2F"/>
                </a:solidFill>
                <a:latin typeface="IBM Plex Sans Light"/>
              </a:rPr>
              <a:t>Los servicios descritos en esta oferta se enmarcan en los acuerdos y términos y condiciones del </a:t>
            </a:r>
            <a:r>
              <a:rPr sz="3199" b="1" i="0">
                <a:solidFill>
                  <a:srgbClr val="1E2A2F"/>
                </a:solidFill>
                <a:latin typeface="IBM Plex Sans"/>
              </a:rPr>
              <a:t>Contrato Master de Prestación de Servicios</a:t>
            </a:r>
            <a:r>
              <a:rPr sz="3199" b="0" i="0">
                <a:solidFill>
                  <a:srgbClr val="1E2A2F"/>
                </a:solidFill>
                <a:latin typeface="IBM Plex Sans Light"/>
              </a:rPr>
              <a:t> vigente y sus adendas posteriores.</a:t>
            </a:r>
          </a:p>
          <a:p>
            <a:pPr algn="l" marL="0" indent="0">
              <a:lnSpc>
                <a:spcPct val="105000"/>
              </a:lnSpc>
              <a:buNone/>
            </a:pPr>
            <a:r>
              <a:rPr sz="3199" b="0" i="0">
                <a:solidFill>
                  <a:srgbClr val="1E2A2F"/>
                </a:solidFill>
                <a:latin typeface="IBM Plex Sans Light"/>
              </a:rPr>
              <a:t>Para cualquier aspecto no regulado expresamente en esta propuesta regirá lo establecido en dicho contrato.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8499" b="1">
                <a:latin typeface="IBM Plex Sans"/>
              </a:rPr>
              <a:t>2. Antecedentes y Objetivos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1206422" y="2372962"/>
            <a:ext cx="21969570" cy="934780"/>
          </a:xfrm>
        </p:spPr>
        <p:txBody>
          <a:bodyPr/>
          <a:lstStyle/>
          <a:p>
            <a:r>
              <a:rPr sz="5499">
                <a:latin typeface="IBM Plex Sans Light"/>
              </a:rPr>
              <a:t>Tres objetivos para el primer trimestre de servicio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6959" y="3566017"/>
            <a:ext cx="21968493" cy="11132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999" b="0" i="0">
                <a:solidFill>
                  <a:srgbClr val="1E2A2F"/>
                </a:solidFill>
                <a:latin typeface="IBM Plex Sans Light"/>
              </a:rPr>
              <a:t>La iniciativa se ha construido a partir de sesiones de trabajo con el equipo de Soporte IT, en las que se identificaron los principales puntos de fricción del proceso actual y las oportunidades reales de automatización.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6959" y="5136436"/>
            <a:ext cx="6981468" cy="6603989"/>
          </a:xfrm>
          <a:prstGeom prst="rect">
            <a:avLst/>
          </a:prstGeom>
          <a:solidFill>
            <a:srgbClr val="E5EF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19003" y="5648479"/>
            <a:ext cx="1024086" cy="1024086"/>
          </a:xfrm>
          <a:prstGeom prst="ellipse">
            <a:avLst/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799" b="1" i="0">
                <a:solidFill>
                  <a:srgbClr val="FFFFFF"/>
                </a:solidFill>
                <a:latin typeface="IBM Plex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9003" y="6965162"/>
            <a:ext cx="5957381" cy="11429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599" b="1" i="0">
                <a:solidFill>
                  <a:srgbClr val="1E2A2F"/>
                </a:solidFill>
                <a:latin typeface="IBM Plex Sans"/>
              </a:rPr>
              <a:t>Reducir el tiempo de resolución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9003" y="8382425"/>
            <a:ext cx="5957381" cy="2845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199" b="0" i="0">
                <a:solidFill>
                  <a:srgbClr val="4C6573"/>
                </a:solidFill>
                <a:latin typeface="IBM Plex Sans Light"/>
              </a:rPr>
              <a:t>Clasificación y enrutado automáticos de las incidencias en el momento de su registro, sin intervención manual.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8700472" y="5136436"/>
            <a:ext cx="6981468" cy="6603989"/>
          </a:xfrm>
          <a:prstGeom prst="rect">
            <a:avLst/>
          </a:prstGeom>
          <a:solidFill>
            <a:srgbClr val="1F4E5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12515" y="5648479"/>
            <a:ext cx="1024086" cy="1024086"/>
          </a:xfrm>
          <a:prstGeom prst="ellipse">
            <a:avLst/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799" b="1" i="0">
                <a:solidFill>
                  <a:srgbClr val="FFFFFF"/>
                </a:solidFill>
                <a:latin typeface="IBM Plex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2515" y="6965162"/>
            <a:ext cx="5957381" cy="11429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599" b="1" i="0">
                <a:solidFill>
                  <a:srgbClr val="FFFFFF"/>
                </a:solidFill>
                <a:latin typeface="IBM Plex Sans"/>
              </a:rPr>
              <a:t>Resolver a la primera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12515" y="8382425"/>
            <a:ext cx="5957381" cy="2845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199" b="0" i="0">
                <a:solidFill>
                  <a:srgbClr val="D7DFE2"/>
                </a:solidFill>
                <a:latin typeface="IBM Plex Sans Light"/>
              </a:rPr>
              <a:t>Propuesta de solución basada en incidencias similares ya resueltas y en la documentación técnica de cada aplicación.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193984" y="5136436"/>
            <a:ext cx="6981468" cy="6603989"/>
          </a:xfrm>
          <a:prstGeom prst="rect">
            <a:avLst/>
          </a:prstGeom>
          <a:solidFill>
            <a:srgbClr val="E5EF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706027" y="5648479"/>
            <a:ext cx="1024086" cy="1024086"/>
          </a:xfrm>
          <a:prstGeom prst="ellipse">
            <a:avLst/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799" b="1" i="0">
                <a:solidFill>
                  <a:srgbClr val="FFFFFF"/>
                </a:solidFill>
                <a:latin typeface="IBM Plex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06027" y="6965162"/>
            <a:ext cx="5957381" cy="11429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599" b="1" i="0">
                <a:solidFill>
                  <a:srgbClr val="1E2A2F"/>
                </a:solidFill>
                <a:latin typeface="IBM Plex Sans"/>
              </a:rPr>
              <a:t>Reutilizar el conocimiento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06027" y="8382425"/>
            <a:ext cx="5957381" cy="2845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199" b="0" i="0">
                <a:solidFill>
                  <a:srgbClr val="4C6573"/>
                </a:solidFill>
                <a:latin typeface="IBM Plex Sans Light"/>
              </a:rPr>
              <a:t>Base de conocimiento viva que crece con cada incidencia cerrada y que podrán consumir otros agentes.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8499" b="1">
                <a:latin typeface="IBM Plex Sans"/>
              </a:rPr>
              <a:t>3. Caso de Uso “Gestión de Incidencias”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1206422" y="2372962"/>
            <a:ext cx="21969570" cy="934780"/>
          </a:xfrm>
        </p:spPr>
        <p:txBody>
          <a:bodyPr/>
          <a:lstStyle/>
          <a:p>
            <a:r>
              <a:rPr sz="5499">
                <a:latin typeface="IBM Plex Sans Light"/>
              </a:rPr>
              <a:t>Problemática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6959" y="3566017"/>
            <a:ext cx="21968493" cy="11132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999" b="0" i="0">
                <a:solidFill>
                  <a:srgbClr val="1E2A2F"/>
                </a:solidFill>
                <a:latin typeface="IBM Plex Sans Light"/>
              </a:rPr>
              <a:t>El volumen de incidencias de primer nivel crece de forma sostenida y buena parte del esfuerzo se dedica a tareas repetitivas de clasificación y búsqueda de soluciones.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6959" y="5136436"/>
            <a:ext cx="6957085" cy="3830313"/>
          </a:xfrm>
          <a:prstGeom prst="rect">
            <a:avLst/>
          </a:prstGeom>
          <a:solidFill>
            <a:srgbClr val="E5EF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6959" y="5136436"/>
            <a:ext cx="6957085" cy="128010"/>
          </a:xfrm>
          <a:prstGeom prst="rect">
            <a:avLst/>
          </a:prstGeom>
          <a:solidFill>
            <a:srgbClr val="1F4E5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55577" y="5596073"/>
            <a:ext cx="5859849" cy="1532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199" b="1" i="0">
                <a:solidFill>
                  <a:srgbClr val="1F4E5E"/>
                </a:solidFill>
                <a:latin typeface="IBM Plex Sans"/>
              </a:rPr>
              <a:t>+3.800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577" y="7274497"/>
            <a:ext cx="5859849" cy="777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99" b="0" i="0">
                <a:solidFill>
                  <a:srgbClr val="1E2A2F"/>
                </a:solidFill>
                <a:latin typeface="IBM Plex Sans Light"/>
              </a:rPr>
              <a:t>Incidencias de nivel 1 registradas en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577" y="8052386"/>
            <a:ext cx="5859849" cy="5486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99" b="1" i="0">
                <a:solidFill>
                  <a:srgbClr val="D0453A"/>
                </a:solidFill>
                <a:latin typeface="IBM Plex Sans"/>
              </a:rPr>
              <a:t>▲ +22 % vs.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2663" y="5136436"/>
            <a:ext cx="6957085" cy="3830313"/>
          </a:xfrm>
          <a:prstGeom prst="rect">
            <a:avLst/>
          </a:prstGeom>
          <a:solidFill>
            <a:srgbClr val="E5EF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12663" y="5136436"/>
            <a:ext cx="6957085" cy="128010"/>
          </a:xfrm>
          <a:prstGeom prst="rect">
            <a:avLst/>
          </a:prstGeom>
          <a:solidFill>
            <a:srgbClr val="1F4E5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61281" y="5596073"/>
            <a:ext cx="5859849" cy="1532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199" b="1" i="0">
                <a:solidFill>
                  <a:srgbClr val="1F4E5E"/>
                </a:solidFill>
                <a:latin typeface="IBM Plex Sans"/>
              </a:rPr>
              <a:t>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1281" y="7274497"/>
            <a:ext cx="5859849" cy="777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99" b="0" i="0">
                <a:solidFill>
                  <a:srgbClr val="1E2A2F"/>
                </a:solidFill>
                <a:latin typeface="IBM Plex Sans Light"/>
              </a:rPr>
              <a:t>Tiempo medio de clasificación y enrutado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1281" y="8052386"/>
            <a:ext cx="5859849" cy="5486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99" b="1" i="0">
                <a:solidFill>
                  <a:srgbClr val="D0453A"/>
                </a:solidFill>
                <a:latin typeface="IBM Plex Sans"/>
              </a:rPr>
              <a:t>▲ +6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218367" y="5136436"/>
            <a:ext cx="6957085" cy="3830313"/>
          </a:xfrm>
          <a:prstGeom prst="rect">
            <a:avLst/>
          </a:prstGeom>
          <a:solidFill>
            <a:srgbClr val="E5EF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218367" y="5136436"/>
            <a:ext cx="6957085" cy="128010"/>
          </a:xfrm>
          <a:prstGeom prst="rect">
            <a:avLst/>
          </a:prstGeom>
          <a:solidFill>
            <a:srgbClr val="1F4E5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766985" y="5596073"/>
            <a:ext cx="5859849" cy="1532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199" b="1" i="0">
                <a:solidFill>
                  <a:srgbClr val="1F4E5E"/>
                </a:solidFill>
                <a:latin typeface="IBM Plex Sans"/>
              </a:rPr>
              <a:t>18 %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66985" y="7274497"/>
            <a:ext cx="5859849" cy="777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99" b="0" i="0">
                <a:solidFill>
                  <a:srgbClr val="1E2A2F"/>
                </a:solidFill>
                <a:latin typeface="IBM Plex Sans Light"/>
              </a:rPr>
              <a:t>Incidencias reasignadas por error de clasificación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66985" y="8052386"/>
            <a:ext cx="5859849" cy="5486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99" b="1" i="0">
                <a:solidFill>
                  <a:srgbClr val="D0453A"/>
                </a:solidFill>
                <a:latin typeface="IBM Plex Sans"/>
              </a:rPr>
              <a:t>▲ +4 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6959" y="9698240"/>
            <a:ext cx="21968493" cy="2042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512043" indent="-512043">
              <a:lnSpc>
                <a:spcPct val="100000"/>
              </a:lnSpc>
              <a:spcAft>
                <a:spcPts val="1199"/>
              </a:spcAft>
              <a:buClr>
                <a:srgbClr val="08BED4"/>
              </a:buClr>
              <a:buSzPct val="100000"/>
              <a:buFont typeface="Arial"/>
              <a:buChar char="▪"/>
            </a:pPr>
            <a:r>
              <a:rPr sz="3499" b="0" i="0">
                <a:solidFill>
                  <a:srgbClr val="1E2A2F"/>
                </a:solidFill>
                <a:latin typeface="IBM Plex Sans Light"/>
              </a:rPr>
              <a:t>Alto consumo de tiempo del equipo en tareas de bajo valor</a:t>
            </a:r>
          </a:p>
          <a:p>
            <a:pPr algn="l" marL="512043" indent="-512043">
              <a:lnSpc>
                <a:spcPct val="100000"/>
              </a:lnSpc>
              <a:spcAft>
                <a:spcPts val="1199"/>
              </a:spcAft>
              <a:buClr>
                <a:srgbClr val="08BED4"/>
              </a:buClr>
              <a:buSzPct val="100000"/>
              <a:buFont typeface="Arial"/>
              <a:buChar char="▪"/>
            </a:pPr>
            <a:r>
              <a:rPr sz="3499" b="0" i="0">
                <a:solidFill>
                  <a:srgbClr val="1E2A2F"/>
                </a:solidFill>
                <a:latin typeface="IBM Plex Sans Light"/>
              </a:rPr>
              <a:t>Calidad desigual en la categorización y el enriquecimiento</a:t>
            </a:r>
          </a:p>
          <a:p>
            <a:pPr algn="l" marL="512043" indent="-512043">
              <a:lnSpc>
                <a:spcPct val="100000"/>
              </a:lnSpc>
              <a:buClr>
                <a:srgbClr val="08BED4"/>
              </a:buClr>
              <a:buSzPct val="100000"/>
              <a:buFont typeface="Arial"/>
              <a:buChar char="▪"/>
            </a:pPr>
            <a:r>
              <a:rPr sz="3499" b="0" i="0">
                <a:solidFill>
                  <a:srgbClr val="1E2A2F"/>
                </a:solidFill>
                <a:latin typeface="IBM Plex Sans Light"/>
              </a:rPr>
              <a:t>Conocimiento de resolución disperso y poco reutilizado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635" y="12581639"/>
            <a:ext cx="17555776" cy="4023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99" b="0" i="1">
                <a:solidFill>
                  <a:srgbClr val="4C6573"/>
                </a:solidFill>
                <a:latin typeface="IBM Plex Sans Light"/>
              </a:rPr>
              <a:t>Fuente: Herramienta de ticketing, enero–diciembre 2025 (datos de ejemplo)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8499" b="1">
                <a:latin typeface="IBM Plex Sans"/>
              </a:rPr>
              <a:t>3. Caso de Uso “Gestión de Incidencias”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1206422" y="2372962"/>
            <a:ext cx="21969570" cy="934780"/>
          </a:xfrm>
        </p:spPr>
        <p:txBody>
          <a:bodyPr/>
          <a:lstStyle/>
          <a:p>
            <a:r>
              <a:rPr sz="5499">
                <a:latin typeface="IBM Plex Sans Light"/>
              </a:rPr>
              <a:t>Solución propuesta: cuatro agentes coordinados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6959" y="3566017"/>
            <a:ext cx="21968493" cy="11132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999" b="0" i="0">
                <a:solidFill>
                  <a:srgbClr val="1E2A2F"/>
                </a:solidFill>
                <a:latin typeface="IBM Plex Sans Light"/>
              </a:rPr>
              <a:t>Cada incidencia recorre un flujo en el que intervienen agentes especializados; el técnico de soporte mantiene siempre la decisión final.</a:t>
            </a:r>
          </a:p>
        </p:txBody>
      </p:sp>
      <p:sp>
        <p:nvSpPr>
          <p:cNvPr id="5" name="Pentagon 4"/>
          <p:cNvSpPr/>
          <p:nvPr/>
        </p:nvSpPr>
        <p:spPr>
          <a:xfrm>
            <a:off x="1206959" y="5955400"/>
            <a:ext cx="5656708" cy="1737290"/>
          </a:xfrm>
          <a:prstGeom prst="homePlate">
            <a:avLst>
              <a:gd name="adj" fmla="val 32000"/>
            </a:avLst>
          </a:prstGeom>
          <a:solidFill>
            <a:srgbClr val="1F4E5E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3399" b="1" i="0">
                <a:solidFill>
                  <a:srgbClr val="FFFFFF"/>
                </a:solidFill>
                <a:latin typeface="IBM Plex Sans"/>
              </a:rPr>
              <a:t>Clasificar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268" y="8332745"/>
            <a:ext cx="4833781" cy="22706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999" b="0" i="0">
                <a:solidFill>
                  <a:srgbClr val="4C6573"/>
                </a:solidFill>
                <a:latin typeface="IBM Plex Sans Light"/>
              </a:rPr>
              <a:t>El </a:t>
            </a:r>
            <a:r>
              <a:rPr sz="2999" b="1" i="0">
                <a:solidFill>
                  <a:srgbClr val="1E2A2F"/>
                </a:solidFill>
                <a:latin typeface="IBM Plex Sans"/>
              </a:rPr>
              <a:t>agente clasificador</a:t>
            </a:r>
            <a:r>
              <a:rPr sz="2999" b="0" i="0">
                <a:solidFill>
                  <a:srgbClr val="4C6573"/>
                </a:solidFill>
                <a:latin typeface="IBM Plex Sans Light"/>
              </a:rPr>
              <a:t> asigna categoría, prioridad y grupo resolutor a partir de la descripción.</a:t>
            </a:r>
          </a:p>
        </p:txBody>
      </p:sp>
      <p:sp>
        <p:nvSpPr>
          <p:cNvPr id="7" name="Chevron 6"/>
          <p:cNvSpPr/>
          <p:nvPr/>
        </p:nvSpPr>
        <p:spPr>
          <a:xfrm>
            <a:off x="6644221" y="5955400"/>
            <a:ext cx="5656708" cy="1737290"/>
          </a:xfrm>
          <a:prstGeom prst="chevron">
            <a:avLst>
              <a:gd name="adj" fmla="val 32000"/>
            </a:avLst>
          </a:prstGeom>
          <a:solidFill>
            <a:srgbClr val="396371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3399" b="1" i="0">
                <a:solidFill>
                  <a:srgbClr val="FFFFFF"/>
                </a:solidFill>
                <a:latin typeface="IBM Plex Sans"/>
              </a:rPr>
              <a:t>Enriquecer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8530" y="8332745"/>
            <a:ext cx="4833781" cy="22706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999" b="0" i="0">
                <a:solidFill>
                  <a:srgbClr val="4C6573"/>
                </a:solidFill>
                <a:latin typeface="IBM Plex Sans Light"/>
              </a:rPr>
              <a:t>El </a:t>
            </a:r>
            <a:r>
              <a:rPr sz="2999" b="1" i="0">
                <a:solidFill>
                  <a:srgbClr val="1E2A2F"/>
                </a:solidFill>
                <a:latin typeface="IBM Plex Sans"/>
              </a:rPr>
              <a:t>agente de contexto</a:t>
            </a:r>
            <a:r>
              <a:rPr sz="2999" b="0" i="0">
                <a:solidFill>
                  <a:srgbClr val="4C6573"/>
                </a:solidFill>
                <a:latin typeface="IBM Plex Sans Light"/>
              </a:rPr>
              <a:t> añade información del CI afectado, cambios recientes e incidencias relacionadas.</a:t>
            </a:r>
          </a:p>
        </p:txBody>
      </p:sp>
      <p:sp>
        <p:nvSpPr>
          <p:cNvPr id="9" name="Chevron 8"/>
          <p:cNvSpPr/>
          <p:nvPr/>
        </p:nvSpPr>
        <p:spPr>
          <a:xfrm>
            <a:off x="12081482" y="5955400"/>
            <a:ext cx="5656708" cy="1737290"/>
          </a:xfrm>
          <a:prstGeom prst="chevron">
            <a:avLst>
              <a:gd name="adj" fmla="val 32000"/>
            </a:avLst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3399" b="1" i="0">
                <a:solidFill>
                  <a:srgbClr val="FFFFFF"/>
                </a:solidFill>
                <a:latin typeface="IBM Plex Sans"/>
              </a:rPr>
              <a:t>Proponer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55791" y="8332745"/>
            <a:ext cx="4833781" cy="22706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999" b="0" i="0">
                <a:solidFill>
                  <a:srgbClr val="4C6573"/>
                </a:solidFill>
                <a:latin typeface="IBM Plex Sans Light"/>
              </a:rPr>
              <a:t>El </a:t>
            </a:r>
            <a:r>
              <a:rPr sz="2999" b="1" i="0">
                <a:solidFill>
                  <a:srgbClr val="1E2A2F"/>
                </a:solidFill>
                <a:latin typeface="IBM Plex Sans"/>
              </a:rPr>
              <a:t>agente resolutor</a:t>
            </a:r>
            <a:r>
              <a:rPr sz="2999" b="0" i="0">
                <a:solidFill>
                  <a:srgbClr val="4C6573"/>
                </a:solidFill>
                <a:latin typeface="IBM Plex Sans Light"/>
              </a:rPr>
              <a:t> sugiere una solución citando las fuentes de la base de conocimiento.</a:t>
            </a:r>
          </a:p>
        </p:txBody>
      </p:sp>
      <p:sp>
        <p:nvSpPr>
          <p:cNvPr id="11" name="Chevron 10"/>
          <p:cNvSpPr/>
          <p:nvPr/>
        </p:nvSpPr>
        <p:spPr>
          <a:xfrm>
            <a:off x="17518744" y="5955400"/>
            <a:ext cx="5656708" cy="1737290"/>
          </a:xfrm>
          <a:prstGeom prst="chevron">
            <a:avLst>
              <a:gd name="adj" fmla="val 32000"/>
            </a:avLst>
          </a:prstGeom>
          <a:solidFill>
            <a:srgbClr val="6D8C96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3399" b="1" i="0">
                <a:solidFill>
                  <a:srgbClr val="FFFFFF"/>
                </a:solidFill>
                <a:latin typeface="IBM Plex Sans"/>
              </a:rPr>
              <a:t>Aprender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93053" y="8332745"/>
            <a:ext cx="4833781" cy="22706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999" b="0" i="0">
                <a:solidFill>
                  <a:srgbClr val="4C6573"/>
                </a:solidFill>
                <a:latin typeface="IBM Plex Sans Light"/>
              </a:rPr>
              <a:t>Al cierre, el </a:t>
            </a:r>
            <a:r>
              <a:rPr sz="2999" b="1" i="0">
                <a:solidFill>
                  <a:srgbClr val="1E2A2F"/>
                </a:solidFill>
                <a:latin typeface="IBM Plex Sans"/>
              </a:rPr>
              <a:t>agente de conocimiento</a:t>
            </a:r>
            <a:r>
              <a:rPr sz="2999" b="0" i="0">
                <a:solidFill>
                  <a:srgbClr val="4C6573"/>
                </a:solidFill>
                <a:latin typeface="IBM Plex Sans Light"/>
              </a:rPr>
              <a:t> incorpora la resolución validada a la 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8499" b="1">
                <a:latin typeface="IBM Plex Sans"/>
              </a:rPr>
              <a:t>3. Caso de Uso “Gestión de Incidencias”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1206422" y="2372962"/>
            <a:ext cx="21969570" cy="934780"/>
          </a:xfrm>
        </p:spPr>
        <p:txBody>
          <a:bodyPr/>
          <a:lstStyle/>
          <a:p>
            <a:r>
              <a:rPr sz="5499">
                <a:latin typeface="IBM Plex Sans Light"/>
              </a:rPr>
              <a:t>Comparativa con otras alternativas tecnológicas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6959" y="4023198"/>
            <a:ext cx="10709937" cy="7717226"/>
          </a:xfrm>
          <a:prstGeom prst="rect">
            <a:avLst/>
          </a:prstGeom>
          <a:solidFill>
            <a:srgbClr val="F9F9F9"/>
          </a:solidFill>
          <a:ln w="57147">
            <a:solidFill>
              <a:srgbClr val="08BED4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6959" y="4023198"/>
            <a:ext cx="10709937" cy="1554417"/>
          </a:xfrm>
          <a:prstGeom prst="rect">
            <a:avLst/>
          </a:prstGeom>
          <a:solidFill>
            <a:srgbClr val="1F4E5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55577" y="4023198"/>
            <a:ext cx="9612701" cy="15544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799" b="1" i="0">
                <a:solidFill>
                  <a:srgbClr val="FFFFFF"/>
                </a:solidFill>
                <a:latin typeface="IBM Plex Sans"/>
              </a:rPr>
              <a:t>Agentes sobre la plataforma IA corporativa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16625" y="3657453"/>
            <a:ext cx="2834526" cy="658341"/>
          </a:xfrm>
          <a:prstGeom prst="roundRect">
            <a:avLst>
              <a:gd name="adj" fmla="val 50000"/>
            </a:avLst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099" b="1" i="0">
                <a:solidFill>
                  <a:srgbClr val="FFFFFF"/>
                </a:solidFill>
                <a:latin typeface="IBM Plex Sans"/>
              </a:rPr>
              <a:t>Recomendada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577" y="6126234"/>
            <a:ext cx="9612701" cy="3968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548618" indent="-548618">
              <a:spcAft>
                <a:spcPts val="1619"/>
              </a:spcAft>
              <a:buClr>
                <a:srgbClr val="2E8B57"/>
              </a:buClr>
              <a:buSzPct val="100000"/>
              <a:buFont typeface="Segoe UI Symbol"/>
              <a:buChar char="✓"/>
            </a:pPr>
            <a:r>
              <a:rPr sz="3599" b="0">
                <a:solidFill>
                  <a:srgbClr val="1E2A2F"/>
                </a:solidFill>
                <a:latin typeface="IBM Plex Sans Light"/>
              </a:rPr>
              <a:t>Reutiliza bases de conocimiento existentes</a:t>
            </a:r>
          </a:p>
          <a:p>
            <a:pPr marL="548618" indent="-548618">
              <a:spcAft>
                <a:spcPts val="1619"/>
              </a:spcAft>
              <a:buClr>
                <a:srgbClr val="2E8B57"/>
              </a:buClr>
              <a:buSzPct val="100000"/>
              <a:buFont typeface="Segoe UI Symbol"/>
              <a:buChar char="✓"/>
            </a:pPr>
            <a:r>
              <a:rPr sz="3599" b="0">
                <a:solidFill>
                  <a:srgbClr val="1E2A2F"/>
                </a:solidFill>
                <a:latin typeface="IBM Plex Sans Light"/>
              </a:rPr>
              <a:t>Time-to-value más rápido</a:t>
            </a:r>
          </a:p>
          <a:p>
            <a:pPr marL="548618" indent="-548618">
              <a:spcAft>
                <a:spcPts val="1619"/>
              </a:spcAft>
              <a:buClr>
                <a:srgbClr val="2E8B57"/>
              </a:buClr>
              <a:buSzPct val="100000"/>
              <a:buFont typeface="Segoe UI Symbol"/>
              <a:buChar char="✓"/>
            </a:pPr>
            <a:r>
              <a:rPr sz="3599" b="0">
                <a:solidFill>
                  <a:srgbClr val="1E2A2F"/>
                </a:solidFill>
                <a:latin typeface="IBM Plex Sans Light"/>
              </a:rPr>
              <a:t>Menor dependencia del proveedor</a:t>
            </a:r>
          </a:p>
          <a:p>
            <a:pPr marL="548618" indent="-548618">
              <a:spcAft>
                <a:spcPts val="1619"/>
              </a:spcAft>
              <a:buClr>
                <a:srgbClr val="D0453A"/>
              </a:buClr>
              <a:buSzPct val="100000"/>
              <a:buFont typeface="Segoe UI Symbol"/>
              <a:buChar char="✕"/>
            </a:pPr>
            <a:r>
              <a:rPr sz="3599" b="0">
                <a:solidFill>
                  <a:srgbClr val="1E2A2F"/>
                </a:solidFill>
                <a:latin typeface="IBM Plex Sans Light"/>
              </a:rPr>
              <a:t>Requiere integración vía API con ticketing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55577" y="10368880"/>
            <a:ext cx="9612702" cy="0"/>
          </a:xfrm>
          <a:prstGeom prst="line">
            <a:avLst/>
          </a:prstGeom>
          <a:ln w="25398">
            <a:solidFill>
              <a:srgbClr val="ABD6D5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1755577" y="10551753"/>
            <a:ext cx="9612701" cy="91436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799" b="1" i="0">
                <a:solidFill>
                  <a:srgbClr val="0A8FA1"/>
                </a:solidFill>
                <a:latin typeface="IBM Plex Sans"/>
              </a:rPr>
              <a:t>Opción recomendada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465515" y="4023198"/>
            <a:ext cx="10709937" cy="7717226"/>
          </a:xfrm>
          <a:prstGeom prst="rect">
            <a:avLst/>
          </a:prstGeom>
          <a:solidFill>
            <a:srgbClr val="F9F9F9"/>
          </a:solidFill>
          <a:ln w="19049">
            <a:solidFill>
              <a:srgbClr val="ABD6D5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465515" y="4023198"/>
            <a:ext cx="10709937" cy="1554417"/>
          </a:xfrm>
          <a:prstGeom prst="rect">
            <a:avLst/>
          </a:prstGeom>
          <a:solidFill>
            <a:srgbClr val="E5EF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014133" y="4023198"/>
            <a:ext cx="9612701" cy="15544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799" b="1" i="0">
                <a:solidFill>
                  <a:srgbClr val="1E2A2F"/>
                </a:solidFill>
                <a:latin typeface="IBM Plex Sans"/>
              </a:rPr>
              <a:t>Módulo IA nativo de la herramienta de ticketing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14133" y="6126234"/>
            <a:ext cx="9612701" cy="3968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548618" indent="-548618">
              <a:spcAft>
                <a:spcPts val="1619"/>
              </a:spcAft>
              <a:buClr>
                <a:srgbClr val="2E8B57"/>
              </a:buClr>
              <a:buSzPct val="100000"/>
              <a:buFont typeface="Segoe UI Symbol"/>
              <a:buChar char="✓"/>
            </a:pPr>
            <a:r>
              <a:rPr sz="3599" b="0">
                <a:solidFill>
                  <a:srgbClr val="1E2A2F"/>
                </a:solidFill>
                <a:latin typeface="IBM Plex Sans Light"/>
              </a:rPr>
              <a:t>Integración nativa con la interfaz</a:t>
            </a:r>
          </a:p>
          <a:p>
            <a:pPr marL="548618" indent="-548618">
              <a:spcAft>
                <a:spcPts val="1619"/>
              </a:spcAft>
              <a:buClr>
                <a:srgbClr val="2E8B57"/>
              </a:buClr>
              <a:buSzPct val="100000"/>
              <a:buFont typeface="Segoe UI Symbol"/>
              <a:buChar char="✓"/>
            </a:pPr>
            <a:r>
              <a:rPr sz="3599" b="0">
                <a:solidFill>
                  <a:srgbClr val="1E2A2F"/>
                </a:solidFill>
                <a:latin typeface="IBM Plex Sans Light"/>
              </a:rPr>
              <a:t>Gobierno único</a:t>
            </a:r>
          </a:p>
          <a:p>
            <a:pPr marL="548618" indent="-548618">
              <a:spcAft>
                <a:spcPts val="1619"/>
              </a:spcAft>
              <a:buClr>
                <a:srgbClr val="D0453A"/>
              </a:buClr>
              <a:buSzPct val="100000"/>
              <a:buFont typeface="Segoe UI Symbol"/>
              <a:buChar char="✕"/>
            </a:pPr>
            <a:r>
              <a:rPr sz="3599" b="0">
                <a:solidFill>
                  <a:srgbClr val="1E2A2F"/>
                </a:solidFill>
                <a:latin typeface="IBM Plex Sans Light"/>
              </a:rPr>
              <a:t>Licenciamiento adicional elevado</a:t>
            </a:r>
          </a:p>
          <a:p>
            <a:pPr marL="548618" indent="-548618">
              <a:spcAft>
                <a:spcPts val="1619"/>
              </a:spcAft>
              <a:buClr>
                <a:srgbClr val="D0453A"/>
              </a:buClr>
              <a:buSzPct val="100000"/>
              <a:buFont typeface="Segoe UI Symbol"/>
              <a:buChar char="✕"/>
            </a:pPr>
            <a:r>
              <a:rPr sz="3599" b="0">
                <a:solidFill>
                  <a:srgbClr val="1E2A2F"/>
                </a:solidFill>
                <a:latin typeface="IBM Plex Sans Light"/>
              </a:rPr>
              <a:t>Conocimiento aislado del resto de agentes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014133" y="10368880"/>
            <a:ext cx="9612702" cy="0"/>
          </a:xfrm>
          <a:prstGeom prst="line">
            <a:avLst/>
          </a:prstGeom>
          <a:ln w="25398">
            <a:solidFill>
              <a:srgbClr val="ABD6D5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13014133" y="10551753"/>
            <a:ext cx="9612701" cy="91436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799" b="1" i="0">
                <a:solidFill>
                  <a:srgbClr val="1E2A2F"/>
                </a:solidFill>
                <a:latin typeface="IBM Plex Sans"/>
              </a:rPr>
              <a:t>Coste y lock-in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8499" b="1">
                <a:latin typeface="IBM Plex Sans"/>
              </a:rPr>
              <a:t>4. Plan de Implantación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1206422" y="2372962"/>
            <a:ext cx="21969570" cy="934780"/>
          </a:xfrm>
        </p:spPr>
        <p:txBody>
          <a:bodyPr/>
          <a:lstStyle/>
          <a:p>
            <a:r>
              <a:rPr sz="5499">
                <a:latin typeface="IBM Plex Sans Light"/>
              </a:rPr>
              <a:t>Producción en 12 semanas con validaciones intermedias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06959" y="6481616"/>
            <a:ext cx="21968494" cy="0"/>
          </a:xfrm>
          <a:prstGeom prst="line">
            <a:avLst/>
          </a:prstGeom>
          <a:ln w="50797">
            <a:solidFill>
              <a:srgbClr val="ABD6D5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389832" y="4652890"/>
            <a:ext cx="4027953" cy="1005799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2999" b="1" i="0">
                <a:solidFill>
                  <a:srgbClr val="0A8FA1"/>
                </a:solidFill>
                <a:latin typeface="IBM Plex Sans"/>
              </a:rPr>
              <a:t>Sem. 1–2</a:t>
            </a:r>
          </a:p>
        </p:txBody>
      </p:sp>
      <p:sp>
        <p:nvSpPr>
          <p:cNvPr id="6" name="Oval 5"/>
          <p:cNvSpPr/>
          <p:nvPr/>
        </p:nvSpPr>
        <p:spPr>
          <a:xfrm>
            <a:off x="3092925" y="6170733"/>
            <a:ext cx="621767" cy="621767"/>
          </a:xfrm>
          <a:prstGeom prst="ellipse">
            <a:avLst/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799" b="1" i="0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6406" y="7213107"/>
            <a:ext cx="3954804" cy="12801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399" b="1" i="0">
                <a:solidFill>
                  <a:srgbClr val="1E2A2F"/>
                </a:solidFill>
                <a:latin typeface="IBM Plex Sans"/>
              </a:rPr>
              <a:t>Descubrimiento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06" y="8584652"/>
            <a:ext cx="3954804" cy="1708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2799" b="0" i="0">
                <a:solidFill>
                  <a:srgbClr val="4C6573"/>
                </a:solidFill>
                <a:latin typeface="IBM Plex Sans Light"/>
              </a:rPr>
              <a:t>Alcance, KPIs y auditoría de datos históricos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83531" y="4652890"/>
            <a:ext cx="4027953" cy="1005799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2999" b="1" i="0">
                <a:solidFill>
                  <a:srgbClr val="0A8FA1"/>
                </a:solidFill>
                <a:latin typeface="IBM Plex Sans"/>
              </a:rPr>
              <a:t>Sem. 3–4</a:t>
            </a:r>
          </a:p>
        </p:txBody>
      </p:sp>
      <p:sp>
        <p:nvSpPr>
          <p:cNvPr id="10" name="Oval 9"/>
          <p:cNvSpPr/>
          <p:nvPr/>
        </p:nvSpPr>
        <p:spPr>
          <a:xfrm>
            <a:off x="7486624" y="6170733"/>
            <a:ext cx="621767" cy="621767"/>
          </a:xfrm>
          <a:prstGeom prst="ellipse">
            <a:avLst/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799" b="1" i="0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0105" y="7213107"/>
            <a:ext cx="3954804" cy="12801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399" b="1" i="0">
                <a:solidFill>
                  <a:srgbClr val="1E2A2F"/>
                </a:solidFill>
                <a:latin typeface="IBM Plex Sans"/>
              </a:rPr>
              <a:t>Diseño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0105" y="8584652"/>
            <a:ext cx="3954804" cy="1708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2799" b="0" i="0">
                <a:solidFill>
                  <a:srgbClr val="4C6573"/>
                </a:solidFill>
                <a:latin typeface="IBM Plex Sans Light"/>
              </a:rPr>
              <a:t>Arquitectura, integraciones y prompts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77229" y="4652890"/>
            <a:ext cx="4027953" cy="1005799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2999" b="1" i="0">
                <a:solidFill>
                  <a:srgbClr val="0A8FA1"/>
                </a:solidFill>
                <a:latin typeface="IBM Plex Sans"/>
              </a:rPr>
              <a:t>Sem. 5–8</a:t>
            </a:r>
          </a:p>
        </p:txBody>
      </p:sp>
      <p:sp>
        <p:nvSpPr>
          <p:cNvPr id="14" name="Oval 13"/>
          <p:cNvSpPr/>
          <p:nvPr/>
        </p:nvSpPr>
        <p:spPr>
          <a:xfrm>
            <a:off x="11880322" y="6170733"/>
            <a:ext cx="621767" cy="621767"/>
          </a:xfrm>
          <a:prstGeom prst="ellipse">
            <a:avLst/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799" b="1" i="0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13804" y="7213107"/>
            <a:ext cx="3954804" cy="12801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399" b="1" i="0">
                <a:solidFill>
                  <a:srgbClr val="1E2A2F"/>
                </a:solidFill>
                <a:latin typeface="IBM Plex Sans"/>
              </a:rPr>
              <a:t>Construcción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13804" y="8584652"/>
            <a:ext cx="3954804" cy="1708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2799" b="0" i="0">
                <a:solidFill>
                  <a:srgbClr val="4C6573"/>
                </a:solidFill>
                <a:latin typeface="IBM Plex Sans Light"/>
              </a:rPr>
              <a:t>Agentes, conectores y pruebas unitarias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70928" y="4652890"/>
            <a:ext cx="4027953" cy="1005799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2999" b="1" i="0">
                <a:solidFill>
                  <a:srgbClr val="0A8FA1"/>
                </a:solidFill>
                <a:latin typeface="IBM Plex Sans"/>
              </a:rPr>
              <a:t>Sem. 9–10</a:t>
            </a:r>
          </a:p>
        </p:txBody>
      </p:sp>
      <p:sp>
        <p:nvSpPr>
          <p:cNvPr id="18" name="Oval 17"/>
          <p:cNvSpPr/>
          <p:nvPr/>
        </p:nvSpPr>
        <p:spPr>
          <a:xfrm>
            <a:off x="16274021" y="6170733"/>
            <a:ext cx="621767" cy="621767"/>
          </a:xfrm>
          <a:prstGeom prst="ellipse">
            <a:avLst/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799" b="1" i="0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07503" y="7213107"/>
            <a:ext cx="3954804" cy="12801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399" b="1" i="0">
                <a:solidFill>
                  <a:srgbClr val="1E2A2F"/>
                </a:solidFill>
                <a:latin typeface="IBM Plex Sans"/>
              </a:rPr>
              <a:t>Validación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07503" y="8584652"/>
            <a:ext cx="3954804" cy="1708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2799" b="0" i="0">
                <a:solidFill>
                  <a:srgbClr val="4C6573"/>
                </a:solidFill>
                <a:latin typeface="IBM Plex Sans Light"/>
              </a:rPr>
              <a:t>Pruebas E2E y UAT con el equipo de soporte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964627" y="4652890"/>
            <a:ext cx="4027953" cy="1005799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2999" b="1" i="0">
                <a:solidFill>
                  <a:srgbClr val="0A8FA1"/>
                </a:solidFill>
                <a:latin typeface="IBM Plex Sans"/>
              </a:rPr>
              <a:t>Sem. 11–12</a:t>
            </a:r>
          </a:p>
        </p:txBody>
      </p:sp>
      <p:sp>
        <p:nvSpPr>
          <p:cNvPr id="22" name="Oval 21"/>
          <p:cNvSpPr/>
          <p:nvPr/>
        </p:nvSpPr>
        <p:spPr>
          <a:xfrm>
            <a:off x="20667720" y="6170733"/>
            <a:ext cx="621767" cy="621767"/>
          </a:xfrm>
          <a:prstGeom prst="ellipse">
            <a:avLst/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799" b="1" i="0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01201" y="7213107"/>
            <a:ext cx="3954804" cy="12801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399" b="1" i="0">
                <a:solidFill>
                  <a:srgbClr val="1E2A2F"/>
                </a:solidFill>
                <a:latin typeface="IBM Plex Sans"/>
              </a:rPr>
              <a:t>Despliegue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01201" y="8584652"/>
            <a:ext cx="3954804" cy="1708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2799" b="0" i="0">
                <a:solidFill>
                  <a:srgbClr val="4C6573"/>
                </a:solidFill>
                <a:latin typeface="IBM Plex Sans Light"/>
              </a:rPr>
              <a:t>Puesta en producción y soporte post-implantación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8499" b="1">
                <a:latin typeface="IBM Plex Sans"/>
              </a:rPr>
              <a:t>4. Plan de Implantación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1206422" y="2372962"/>
            <a:ext cx="21969570" cy="934780"/>
          </a:xfrm>
        </p:spPr>
        <p:txBody>
          <a:bodyPr/>
          <a:lstStyle/>
          <a:p>
            <a:r>
              <a:rPr sz="5499">
                <a:latin typeface="IBM Plex Sans Light"/>
              </a:rPr>
              <a:t>Detalle de Actividades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6959" y="3566017"/>
            <a:ext cx="21968493" cy="593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999" b="0" i="0">
                <a:solidFill>
                  <a:srgbClr val="1E2A2F"/>
                </a:solidFill>
                <a:latin typeface="IBM Plex Sans Light"/>
              </a:rPr>
              <a:t>Actividades organizadas según la estructura WBS, con su objetivo y resultado esperado.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06959" y="4616391"/>
          <a:ext cx="21968491" cy="66489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70904"/>
                <a:gridCol w="3994271"/>
                <a:gridCol w="7625427"/>
                <a:gridCol w="9077889"/>
              </a:tblGrid>
              <a:tr h="621005">
                <a:tc>
                  <a:txBody>
                    <a:bodyPr wrap="square"/>
                    <a:lstStyle/>
                    <a:p>
                      <a:pPr algn="l"/>
                      <a:r>
                        <a:rPr sz="2099" b="1">
                          <a:solidFill>
                            <a:srgbClr val="FFFFFF"/>
                          </a:solidFill>
                          <a:latin typeface="IBM Plex Sans"/>
                        </a:rPr>
                        <a:t>WBS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1">
                          <a:solidFill>
                            <a:srgbClr val="FFFFFF"/>
                          </a:solidFill>
                          <a:latin typeface="IBM Plex Sans"/>
                        </a:rPr>
                        <a:t>Fase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1">
                          <a:solidFill>
                            <a:srgbClr val="FFFFFF"/>
                          </a:solidFill>
                          <a:latin typeface="IBM Plex Sans"/>
                        </a:rPr>
                        <a:t>Tarea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1">
                          <a:solidFill>
                            <a:srgbClr val="FFFFFF"/>
                          </a:solidFill>
                          <a:latin typeface="IBM Plex Sans"/>
                        </a:rPr>
                        <a:t>Objetivo / Resultados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5E"/>
                    </a:solidFill>
                  </a:tcPr>
                </a:tc>
              </a:tr>
              <a:tr h="621005"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1.1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Descubrimiento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Alineamiento de alcance y stakeholders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Alcance validado y aplicaciones piloto confirmadas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</a:tr>
              <a:tr h="621005"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1.2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Descubrimiento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Definición de KPIs de éxito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KPIs cuantitativos y cualitativos acordados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</a:tr>
              <a:tr h="621005"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1.3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Descubrimiento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Auditoría de datos históricos de incidencias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Inventario de fuentes y calidad del dato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</a:tr>
              <a:tr h="621005"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1.4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Descubrimiento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Requisitos funcionales por agente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Requisitos priorizados por agente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</a:tr>
              <a:tr h="219447">
                <a:tc>
                  <a:txBody>
                    <a:bodyPr wrap="square"/>
                    <a:lstStyle/>
                    <a:p>
                      <a:pPr algn="l"/>
                      <a:r>
                        <a:rPr sz="799"/>
                        <a:t/>
                      </a:r>
                    </a:p>
                  </a:txBody>
                  <a:tcPr marL="182872" marR="182872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99"/>
                        <a:t/>
                      </a:r>
                    </a:p>
                  </a:txBody>
                  <a:tcPr marL="182872" marR="182872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99"/>
                        <a:t/>
                      </a:r>
                    </a:p>
                  </a:txBody>
                  <a:tcPr marL="182872" marR="182872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99"/>
                        <a:t/>
                      </a:r>
                    </a:p>
                  </a:txBody>
                  <a:tcPr marL="182872" marR="182872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621005"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2.1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Diseño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Arquitectura de la solución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Diagrama de componentes y responsabilidades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</a:tr>
              <a:tr h="621005"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2.2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Diseño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Diseño de integraciones con ticketing y CMDB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Especificación de APIs y permisos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</a:tr>
              <a:tr h="621005"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2.3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Diseño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Diseño de prompts, contexto y memoria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Catálogo inicial de prompts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</a:tr>
              <a:tr h="621005"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2.4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Diseño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Modelo de datos y trazabilidad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Metadatos y versionado definidos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</a:tr>
              <a:tr h="219447">
                <a:tc>
                  <a:txBody>
                    <a:bodyPr wrap="square"/>
                    <a:lstStyle/>
                    <a:p>
                      <a:pPr algn="l"/>
                      <a:r>
                        <a:rPr sz="799"/>
                        <a:t/>
                      </a:r>
                    </a:p>
                  </a:txBody>
                  <a:tcPr marL="182872" marR="182872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99"/>
                        <a:t/>
                      </a:r>
                    </a:p>
                  </a:txBody>
                  <a:tcPr marL="182872" marR="182872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99"/>
                        <a:t/>
                      </a:r>
                    </a:p>
                  </a:txBody>
                  <a:tcPr marL="182872" marR="182872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99"/>
                        <a:t/>
                      </a:r>
                    </a:p>
                  </a:txBody>
                  <a:tcPr marL="182872" marR="182872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621005"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3.1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Construcción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Desarrollo del agente clasificador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Agente operativo en entorno de desarrollo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8499" b="1">
                <a:latin typeface="IBM Plex Sans"/>
              </a:rPr>
              <a:t>4. Plan de Implantación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1206422" y="2372962"/>
            <a:ext cx="21969570" cy="934780"/>
          </a:xfrm>
        </p:spPr>
        <p:txBody>
          <a:bodyPr/>
          <a:lstStyle/>
          <a:p>
            <a:r>
              <a:rPr sz="5499">
                <a:latin typeface="IBM Plex Sans Light"/>
              </a:rPr>
              <a:t>Detalle de Actividades (cont.)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06959" y="3566017"/>
          <a:ext cx="21968491" cy="6027939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70904"/>
                <a:gridCol w="3994271"/>
                <a:gridCol w="7625427"/>
                <a:gridCol w="9077889"/>
              </a:tblGrid>
              <a:tr h="621005">
                <a:tc>
                  <a:txBody>
                    <a:bodyPr wrap="square"/>
                    <a:lstStyle/>
                    <a:p>
                      <a:pPr algn="l"/>
                      <a:r>
                        <a:rPr sz="2099" b="1">
                          <a:solidFill>
                            <a:srgbClr val="FFFFFF"/>
                          </a:solidFill>
                          <a:latin typeface="IBM Plex Sans"/>
                        </a:rPr>
                        <a:t>WBS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1">
                          <a:solidFill>
                            <a:srgbClr val="FFFFFF"/>
                          </a:solidFill>
                          <a:latin typeface="IBM Plex Sans"/>
                        </a:rPr>
                        <a:t>Fase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1">
                          <a:solidFill>
                            <a:srgbClr val="FFFFFF"/>
                          </a:solidFill>
                          <a:latin typeface="IBM Plex Sans"/>
                        </a:rPr>
                        <a:t>Tarea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1">
                          <a:solidFill>
                            <a:srgbClr val="FFFFFF"/>
                          </a:solidFill>
                          <a:latin typeface="IBM Plex Sans"/>
                        </a:rPr>
                        <a:t>Objetivo / Resultados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5E"/>
                    </a:solidFill>
                  </a:tcPr>
                </a:tc>
              </a:tr>
              <a:tr h="621005"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3.2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Construcción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Desarrollo del agente de contexto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Enriquecimiento automático disponible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</a:tr>
              <a:tr h="621005"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3.3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Construcción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Desarrollo del agente resolutor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Propuestas con citas a fuentes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</a:tr>
              <a:tr h="621005"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3.4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Construcción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Desarrollo del agente de conocimiento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Base de conocimiento actualizada al cierre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</a:tr>
              <a:tr h="621005"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3.5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Construcción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Pruebas unitarias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Suite de pruebas y evidencias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</a:tr>
              <a:tr h="219447">
                <a:tc>
                  <a:txBody>
                    <a:bodyPr wrap="square"/>
                    <a:lstStyle/>
                    <a:p>
                      <a:pPr algn="l"/>
                      <a:r>
                        <a:rPr sz="799"/>
                        <a:t/>
                      </a:r>
                    </a:p>
                  </a:txBody>
                  <a:tcPr marL="182872" marR="182872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99"/>
                        <a:t/>
                      </a:r>
                    </a:p>
                  </a:txBody>
                  <a:tcPr marL="182872" marR="182872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99"/>
                        <a:t/>
                      </a:r>
                    </a:p>
                  </a:txBody>
                  <a:tcPr marL="182872" marR="182872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99"/>
                        <a:t/>
                      </a:r>
                    </a:p>
                  </a:txBody>
                  <a:tcPr marL="182872" marR="182872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621005"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4.1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Validación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Pruebas E2E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Evidencias de ejecución completa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</a:tr>
              <a:tr h="621005"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4.2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Validación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UAT con el equipo de soporte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Acta de aceptación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</a:tr>
              <a:tr h="219447">
                <a:tc>
                  <a:txBody>
                    <a:bodyPr wrap="square"/>
                    <a:lstStyle/>
                    <a:p>
                      <a:pPr algn="l"/>
                      <a:r>
                        <a:rPr sz="799"/>
                        <a:t/>
                      </a:r>
                    </a:p>
                  </a:txBody>
                  <a:tcPr marL="182872" marR="182872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99"/>
                        <a:t/>
                      </a:r>
                    </a:p>
                  </a:txBody>
                  <a:tcPr marL="182872" marR="182872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99"/>
                        <a:t/>
                      </a:r>
                    </a:p>
                  </a:txBody>
                  <a:tcPr marL="182872" marR="182872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99"/>
                        <a:t/>
                      </a:r>
                    </a:p>
                  </a:txBody>
                  <a:tcPr marL="182872" marR="182872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621005"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5.1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Despliegue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Puesta en producción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Runbook y configuración por entorno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</a:tr>
              <a:tr h="621005"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5.2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Despliegue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Soporte post-implantación (2 semanas)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99" b="0">
                          <a:solidFill>
                            <a:srgbClr val="1E2A2F"/>
                          </a:solidFill>
                          <a:latin typeface="IBM Plex Sans Light"/>
                        </a:rPr>
                        <a:t>Informe de estabilización y KPIs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solidFill>
                      <a:srgbClr val="E5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8499" b="1">
                <a:latin typeface="IBM Plex Sans"/>
              </a:rPr>
              <a:t>3. Caso de Uso “Gestión de Incidencias”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1206422" y="2372962"/>
            <a:ext cx="21969570" cy="934780"/>
          </a:xfrm>
        </p:spPr>
        <p:txBody>
          <a:bodyPr/>
          <a:lstStyle/>
          <a:p>
            <a:r>
              <a:rPr sz="5499">
                <a:latin typeface="IBM Plex Sans Light"/>
              </a:rPr>
              <a:t>Impacto esperado: −60 % de esfuerzo en clasificación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06959" y="3566017"/>
          <a:ext cx="13840151" cy="81744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15870037" y="3566017"/>
            <a:ext cx="7305415" cy="8174408"/>
          </a:xfrm>
          <a:prstGeom prst="rect">
            <a:avLst/>
          </a:prstGeom>
          <a:solidFill>
            <a:srgbClr val="E5EF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18655" y="4114635"/>
            <a:ext cx="6208179" cy="6400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99" b="1" i="0" spc="239">
                <a:solidFill>
                  <a:srgbClr val="0A8FA1"/>
                </a:solidFill>
                <a:latin typeface="IBM Plex Sans"/>
              </a:rPr>
              <a:t>CLAVES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18655" y="5028998"/>
            <a:ext cx="6208179" cy="6162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457181" indent="-457181">
              <a:lnSpc>
                <a:spcPct val="100000"/>
              </a:lnSpc>
              <a:spcAft>
                <a:spcPts val="1799"/>
              </a:spcAft>
              <a:buClr>
                <a:srgbClr val="08BED4"/>
              </a:buClr>
              <a:buSzPct val="100000"/>
              <a:buFont typeface="Arial"/>
              <a:buChar char="▪"/>
            </a:pPr>
            <a:r>
              <a:rPr sz="3199" b="0" i="0">
                <a:solidFill>
                  <a:srgbClr val="1E2A2F"/>
                </a:solidFill>
                <a:latin typeface="IBM Plex Sans Light"/>
              </a:rPr>
              <a:t>Estimación basada en pilotos comparables</a:t>
            </a:r>
          </a:p>
          <a:p>
            <a:pPr algn="l" marL="457181" indent="-457181">
              <a:lnSpc>
                <a:spcPct val="100000"/>
              </a:lnSpc>
              <a:spcAft>
                <a:spcPts val="1799"/>
              </a:spcAft>
              <a:buClr>
                <a:srgbClr val="08BED4"/>
              </a:buClr>
              <a:buSzPct val="100000"/>
              <a:buFont typeface="Arial"/>
              <a:buChar char="▪"/>
            </a:pPr>
            <a:r>
              <a:rPr sz="3199" b="0" i="0">
                <a:solidFill>
                  <a:srgbClr val="1E2A2F"/>
                </a:solidFill>
                <a:latin typeface="IBM Plex Sans Light"/>
              </a:rPr>
              <a:t>El ahorro se reinvierte en incidencias de nivel 2</a:t>
            </a:r>
          </a:p>
          <a:p>
            <a:pPr algn="l" marL="457181" indent="-457181">
              <a:lnSpc>
                <a:spcPct val="100000"/>
              </a:lnSpc>
              <a:buClr>
                <a:srgbClr val="08BED4"/>
              </a:buClr>
              <a:buSzPct val="100000"/>
              <a:buFont typeface="Arial"/>
              <a:buChar char="▪"/>
            </a:pPr>
            <a:r>
              <a:rPr sz="3199" b="0" i="0">
                <a:solidFill>
                  <a:srgbClr val="1E2A2F"/>
                </a:solidFill>
                <a:latin typeface="IBM Plex Sans Light"/>
              </a:rPr>
              <a:t>Se medirá con los KPIs acordados en la fase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635" y="12581639"/>
            <a:ext cx="17555776" cy="4023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99" b="0" i="1">
                <a:solidFill>
                  <a:srgbClr val="4C6573"/>
                </a:solidFill>
                <a:latin typeface="IBM Plex Sans Light"/>
              </a:rPr>
              <a:t>Fuente: Estimación propia (datos de ejemplo)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8499" b="1">
                <a:latin typeface="IBM Plex Sans"/>
              </a:rPr>
              <a:t>5. Modelo Económico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1206959" y="2743090"/>
            <a:ext cx="21968493" cy="614452"/>
          </a:xfrm>
          <a:prstGeom prst="rect">
            <a:avLst/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26406" y="2743090"/>
            <a:ext cx="21529599" cy="6144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719" b="1" i="0">
                <a:solidFill>
                  <a:srgbClr val="FFFFFF"/>
                </a:solidFill>
                <a:latin typeface="IBM Plex Sans"/>
              </a:rPr>
              <a:t>Coste de los Servicios de “CR2026-045 Agentes IA para Gestión de Incidencias”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6959" y="3631851"/>
            <a:ext cx="21968493" cy="5266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399" b="1" i="0">
                <a:solidFill>
                  <a:srgbClr val="1F4E5E"/>
                </a:solidFill>
                <a:latin typeface="IBM Plex Sans"/>
              </a:rPr>
              <a:t>Precio de referencia de la propuesta:</a:t>
            </a:r>
            <a:r>
              <a:rPr sz="2399" b="0" i="0">
                <a:solidFill>
                  <a:srgbClr val="1E2A2F"/>
                </a:solidFill>
                <a:latin typeface="IBM Plex Sans Light"/>
              </a:rPr>
              <a:t> 48.000,00 €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6959" y="4187784"/>
            <a:ext cx="21968493" cy="5266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399" b="1" i="0">
                <a:solidFill>
                  <a:srgbClr val="1F4E5E"/>
                </a:solidFill>
                <a:latin typeface="IBM Plex Sans"/>
              </a:rPr>
              <a:t>Descuento comercial aplicado:</a:t>
            </a:r>
            <a:r>
              <a:rPr sz="2399" b="0" i="0">
                <a:solidFill>
                  <a:srgbClr val="1E2A2F"/>
                </a:solidFill>
                <a:latin typeface="IBM Plex Sans Light"/>
              </a:rPr>
              <a:t> −8.000,00 €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6959" y="4743717"/>
            <a:ext cx="21968493" cy="5266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59" b="1" i="0">
                <a:solidFill>
                  <a:srgbClr val="1F4E5E"/>
                </a:solidFill>
                <a:latin typeface="IBM Plex Sans"/>
              </a:rPr>
              <a:t>Importe total final de la oferta: 40.000,00 €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6959" y="5573958"/>
            <a:ext cx="21968493" cy="526673"/>
          </a:xfrm>
          <a:prstGeom prst="rect">
            <a:avLst/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6406" y="5573958"/>
            <a:ext cx="21529599" cy="5266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239" b="1" i="0">
                <a:solidFill>
                  <a:srgbClr val="FFFFFF"/>
                </a:solidFill>
                <a:latin typeface="IBM Plex Sans"/>
              </a:rPr>
              <a:t>Desglose del importe final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206959" y="6283504"/>
          <a:ext cx="21968493" cy="25764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574795"/>
                <a:gridCol w="4393698"/>
              </a:tblGrid>
              <a:tr h="644118">
                <a:tc>
                  <a:txBody>
                    <a:bodyPr wrap="square"/>
                    <a:lstStyle/>
                    <a:p>
                      <a:pPr algn="l"/>
                      <a:r>
                        <a:rPr sz="2239" b="1">
                          <a:solidFill>
                            <a:srgbClr val="1F4E5E"/>
                          </a:solidFill>
                          <a:latin typeface="IBM Plex Sans"/>
                        </a:rPr>
                        <a:t>Descripción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31748">
                      <a:solidFill>
                        <a:srgbClr val="1F4E5E"/>
                      </a:solidFill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239" b="1">
                          <a:solidFill>
                            <a:srgbClr val="1F4E5E"/>
                          </a:solidFill>
                          <a:latin typeface="IBM Plex Sans"/>
                        </a:rPr>
                        <a:t>Importe final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31748">
                      <a:solidFill>
                        <a:srgbClr val="1F4E5E"/>
                      </a:solidFill>
                    </a:lnB>
                    <a:solidFill>
                      <a:srgbClr val="CAEDFB"/>
                    </a:solidFill>
                  </a:tcPr>
                </a:tc>
              </a:tr>
              <a:tr h="644118">
                <a:tc>
                  <a:txBody>
                    <a:bodyPr wrap="square"/>
                    <a:lstStyle/>
                    <a:p>
                      <a:pPr algn="l"/>
                      <a:r>
                        <a:rPr sz="2239" b="0">
                          <a:solidFill>
                            <a:srgbClr val="1E2A2F"/>
                          </a:solidFill>
                          <a:latin typeface="IBM Plex Sans Light"/>
                        </a:rPr>
                        <a:t>Implantación de los agentes de gestión de incidencias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239" b="0">
                          <a:solidFill>
                            <a:srgbClr val="1E2A2F"/>
                          </a:solidFill>
                          <a:latin typeface="IBM Plex Sans Light"/>
                        </a:rPr>
                        <a:t>32.000,00 €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</a:tr>
              <a:tr h="644118">
                <a:tc>
                  <a:txBody>
                    <a:bodyPr wrap="square"/>
                    <a:lstStyle/>
                    <a:p>
                      <a:pPr algn="l"/>
                      <a:r>
                        <a:rPr sz="2239" b="0">
                          <a:solidFill>
                            <a:srgbClr val="1E2A2F"/>
                          </a:solidFill>
                          <a:latin typeface="IBM Plex Sans Light"/>
                        </a:rPr>
                        <a:t>Base de conocimiento de soluciones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239" b="0">
                          <a:solidFill>
                            <a:srgbClr val="1E2A2F"/>
                          </a:solidFill>
                          <a:latin typeface="IBM Plex Sans Light"/>
                        </a:rPr>
                        <a:t>8.000,00 €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</a:tr>
              <a:tr h="644118">
                <a:tc>
                  <a:txBody>
                    <a:bodyPr wrap="square"/>
                    <a:lstStyle/>
                    <a:p>
                      <a:pPr algn="l"/>
                      <a:r>
                        <a:rPr sz="2239" b="1">
                          <a:solidFill>
                            <a:srgbClr val="1E2A2F"/>
                          </a:solidFill>
                          <a:latin typeface="IBM Plex Sans"/>
                        </a:rPr>
                        <a:t>Total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31748">
                      <a:solidFill>
                        <a:srgbClr val="1F4E5E"/>
                      </a:solidFill>
                    </a:lnT>
                    <a:lnB w="31748">
                      <a:solidFill>
                        <a:srgbClr val="1F4E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239" b="1">
                          <a:solidFill>
                            <a:srgbClr val="1E2A2F"/>
                          </a:solidFill>
                          <a:latin typeface="IBM Plex Sans"/>
                        </a:rPr>
                        <a:t>40.000,00 €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31748">
                      <a:solidFill>
                        <a:srgbClr val="1F4E5E"/>
                      </a:solidFill>
                    </a:lnT>
                    <a:lnB w="31748">
                      <a:solidFill>
                        <a:srgbClr val="1F4E5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1206959" y="9225722"/>
            <a:ext cx="21968493" cy="526673"/>
          </a:xfrm>
          <a:prstGeom prst="rect">
            <a:avLst/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6406" y="9225722"/>
            <a:ext cx="21529599" cy="5266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239" b="1" i="0">
                <a:solidFill>
                  <a:srgbClr val="FFFFFF"/>
                </a:solidFill>
                <a:latin typeface="IBM Plex Sans"/>
              </a:rPr>
              <a:t>Plan de facturación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206959" y="9935268"/>
          <a:ext cx="21968491" cy="12882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984246"/>
                <a:gridCol w="3661415"/>
                <a:gridCol w="3661415"/>
                <a:gridCol w="3661415"/>
              </a:tblGrid>
              <a:tr h="644118">
                <a:tc>
                  <a:txBody>
                    <a:bodyPr wrap="square"/>
                    <a:lstStyle/>
                    <a:p>
                      <a:pPr algn="l"/>
                      <a:r>
                        <a:rPr sz="2239" b="1">
                          <a:solidFill>
                            <a:srgbClr val="1F4E5E"/>
                          </a:solidFill>
                          <a:latin typeface="IBM Plex Sans"/>
                        </a:rPr>
                        <a:t>Concepto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31748">
                      <a:solidFill>
                        <a:srgbClr val="1F4E5E"/>
                      </a:solidFill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239" b="1">
                          <a:solidFill>
                            <a:srgbClr val="1F4E5E"/>
                          </a:solidFill>
                          <a:latin typeface="IBM Plex Sans"/>
                        </a:rPr>
                        <a:t>Mes 1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31748">
                      <a:solidFill>
                        <a:srgbClr val="1F4E5E"/>
                      </a:solidFill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239" b="1">
                          <a:solidFill>
                            <a:srgbClr val="1F4E5E"/>
                          </a:solidFill>
                          <a:latin typeface="IBM Plex Sans"/>
                        </a:rPr>
                        <a:t>Mes 2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31748">
                      <a:solidFill>
                        <a:srgbClr val="1F4E5E"/>
                      </a:solidFill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239" b="1">
                          <a:solidFill>
                            <a:srgbClr val="1F4E5E"/>
                          </a:solidFill>
                          <a:latin typeface="IBM Plex Sans"/>
                        </a:rPr>
                        <a:t>Mes 3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31748">
                      <a:solidFill>
                        <a:srgbClr val="1F4E5E"/>
                      </a:solidFill>
                    </a:lnB>
                    <a:solidFill>
                      <a:srgbClr val="CAEDFB"/>
                    </a:solidFill>
                  </a:tcPr>
                </a:tc>
              </a:tr>
              <a:tr h="644118">
                <a:tc>
                  <a:txBody>
                    <a:bodyPr wrap="square"/>
                    <a:lstStyle/>
                    <a:p>
                      <a:pPr algn="l"/>
                      <a:r>
                        <a:rPr sz="2239" b="0">
                          <a:solidFill>
                            <a:srgbClr val="1E2A2F"/>
                          </a:solidFill>
                          <a:latin typeface="IBM Plex Sans Light"/>
                        </a:rPr>
                        <a:t>Gestión de Incidencias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239" b="0">
                          <a:solidFill>
                            <a:srgbClr val="1E2A2F"/>
                          </a:solidFill>
                          <a:latin typeface="IBM Plex Sans Light"/>
                        </a:rPr>
                        <a:t>13.333,33 €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239" b="0">
                          <a:solidFill>
                            <a:srgbClr val="1E2A2F"/>
                          </a:solidFill>
                          <a:latin typeface="IBM Plex Sans Light"/>
                        </a:rPr>
                        <a:t>13.333,33 €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239" b="0">
                          <a:solidFill>
                            <a:srgbClr val="1E2A2F"/>
                          </a:solidFill>
                          <a:latin typeface="IBM Plex Sans Light"/>
                        </a:rPr>
                        <a:t>13.333,34 €</a:t>
                      </a:r>
                    </a:p>
                  </a:txBody>
                  <a:tcPr marL="182872" marR="182872" marT="109723" marB="109723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49">
                      <a:solidFill>
                        <a:srgbClr val="ABD6D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114635" y="12581639"/>
            <a:ext cx="17555776" cy="4571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99" b="0" i="0">
                <a:solidFill>
                  <a:srgbClr val="4C6573"/>
                </a:solidFill>
                <a:latin typeface="IBM Plex Sans Light"/>
              </a:rPr>
              <a:t>Importes sin IVA. Datos de ejemplo.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8499" b="1">
                <a:latin typeface="IBM Plex Sans"/>
              </a:rPr>
              <a:t>6. Términos y Condiciones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6959" y="2743090"/>
            <a:ext cx="21968493" cy="6345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512043" indent="-512043">
              <a:lnSpc>
                <a:spcPct val="105000"/>
              </a:lnSpc>
              <a:spcAft>
                <a:spcPts val="1439"/>
              </a:spcAft>
              <a:buClr>
                <a:srgbClr val="08BED4"/>
              </a:buClr>
              <a:buSzPct val="100000"/>
              <a:buFont typeface="Arial"/>
              <a:buChar char="▪"/>
            </a:pPr>
            <a:r>
              <a:rPr sz="3199" b="0" i="0">
                <a:solidFill>
                  <a:srgbClr val="1E2A2F"/>
                </a:solidFill>
                <a:latin typeface="IBM Plex Sans Light"/>
              </a:rPr>
              <a:t>Esta oferta se tramitará y aprobará por el procedimiento de Gestión de Cambios establecido en el Contrato Master, y se formalizará mediante el documento de Adenda que corresponda.</a:t>
            </a:r>
          </a:p>
          <a:p>
            <a:pPr algn="l" marL="512043" indent="-512043">
              <a:lnSpc>
                <a:spcPct val="105000"/>
              </a:lnSpc>
              <a:buClr>
                <a:srgbClr val="08BED4"/>
              </a:buClr>
              <a:buSzPct val="100000"/>
              <a:buFont typeface="Arial"/>
              <a:buChar char="▪"/>
            </a:pPr>
            <a:r>
              <a:rPr sz="3199" b="0" i="0">
                <a:solidFill>
                  <a:srgbClr val="1E2A2F"/>
                </a:solidFill>
                <a:latin typeface="IBM Plex Sans Light"/>
              </a:rPr>
              <a:t>Mediante la firma de este documento se confirma la aplicación de los términos y condiciones descritos y se autoriza el inicio de los trabajos.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6959" y="9363080"/>
            <a:ext cx="7680652" cy="2377344"/>
          </a:xfrm>
          <a:prstGeom prst="rect">
            <a:avLst/>
          </a:prstGeom>
          <a:noFill/>
          <a:ln w="25398">
            <a:solidFill>
              <a:srgbClr val="ABD6D5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81268" y="9545953"/>
            <a:ext cx="7132034" cy="1097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99" b="1" i="0">
                <a:solidFill>
                  <a:srgbClr val="1E2A2F"/>
                </a:solidFill>
                <a:latin typeface="IBM Plex Sans"/>
              </a:rPr>
              <a:t>Nombre Apellido</a:t>
            </a:r>
          </a:p>
          <a:p>
            <a:pPr algn="l">
              <a:lnSpc>
                <a:spcPct val="100000"/>
              </a:lnSpc>
            </a:pPr>
            <a:r>
              <a:rPr sz="2199" b="0" i="0">
                <a:solidFill>
                  <a:srgbClr val="1E2A2F"/>
                </a:solidFill>
                <a:latin typeface="IBM Plex Sans Light"/>
              </a:rPr>
              <a:t>Responsable de Sistemas</a:t>
            </a:r>
          </a:p>
          <a:p>
            <a:pPr algn="l">
              <a:lnSpc>
                <a:spcPct val="100000"/>
              </a:lnSpc>
            </a:pPr>
            <a:r>
              <a:rPr sz="2199" b="0" i="0">
                <a:solidFill>
                  <a:srgbClr val="1E2A2F"/>
                </a:solidFill>
                <a:latin typeface="IBM Plex Sans Light"/>
              </a:rPr>
              <a:t>Cliente, S.A.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268" y="11228381"/>
            <a:ext cx="7132034" cy="4023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99" b="0" i="1">
                <a:solidFill>
                  <a:srgbClr val="4C6573"/>
                </a:solidFill>
                <a:latin typeface="IBM Plex Sans Light"/>
              </a:rPr>
              <a:t>Firma y fecha</a:t>
            </a:r>
          </a:p>
        </p:txBody>
      </p:sp>
      <p:sp>
        <p:nvSpPr>
          <p:cNvPr id="7" name="Rectangle 6"/>
          <p:cNvSpPr/>
          <p:nvPr/>
        </p:nvSpPr>
        <p:spPr>
          <a:xfrm>
            <a:off x="9436229" y="9363080"/>
            <a:ext cx="7680652" cy="2377344"/>
          </a:xfrm>
          <a:prstGeom prst="rect">
            <a:avLst/>
          </a:prstGeom>
          <a:noFill/>
          <a:ln w="25398">
            <a:solidFill>
              <a:srgbClr val="ABD6D5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538" y="9545953"/>
            <a:ext cx="7132034" cy="1097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99" b="1" i="0">
                <a:solidFill>
                  <a:srgbClr val="1E2A2F"/>
                </a:solidFill>
                <a:latin typeface="IBM Plex Sans"/>
              </a:rPr>
              <a:t>Nombre Apellido</a:t>
            </a:r>
          </a:p>
          <a:p>
            <a:pPr algn="l">
              <a:lnSpc>
                <a:spcPct val="100000"/>
              </a:lnSpc>
            </a:pPr>
            <a:r>
              <a:rPr sz="2199" b="0" i="0">
                <a:solidFill>
                  <a:srgbClr val="1E2A2F"/>
                </a:solidFill>
                <a:latin typeface="IBM Plex Sans Light"/>
              </a:rPr>
              <a:t>Director/a</a:t>
            </a:r>
          </a:p>
          <a:p>
            <a:pPr algn="l">
              <a:lnSpc>
                <a:spcPct val="100000"/>
              </a:lnSpc>
            </a:pPr>
            <a:r>
              <a:rPr sz="2199" b="0" i="0">
                <a:solidFill>
                  <a:srgbClr val="1E2A2F"/>
                </a:solidFill>
                <a:latin typeface="IBM Plex Sans Light"/>
              </a:rPr>
              <a:t>Lean Corporate Services, S.L.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0538" y="11228381"/>
            <a:ext cx="7132034" cy="4023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99" b="0" i="1">
                <a:solidFill>
                  <a:srgbClr val="4C6573"/>
                </a:solidFill>
                <a:latin typeface="IBM Plex Sans Light"/>
              </a:rPr>
              <a:t>Firma y fecha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8499" b="1">
                <a:latin typeface="IBM Plex Sans"/>
              </a:rPr>
              <a:t>7. Perfiles Tipo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1206422" y="2372962"/>
            <a:ext cx="21969570" cy="934780"/>
          </a:xfrm>
        </p:spPr>
        <p:txBody>
          <a:bodyPr/>
          <a:lstStyle/>
          <a:p>
            <a:r>
              <a:rPr sz="5499">
                <a:latin typeface="IBM Plex Sans Light"/>
              </a:rPr>
              <a:t>Arquitecto/a de Soluciones de IA Generativa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6959" y="3566017"/>
            <a:ext cx="21968493" cy="593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999" b="0" i="0">
                <a:solidFill>
                  <a:srgbClr val="1E2A2F"/>
                </a:solidFill>
                <a:latin typeface="IBM Plex Sans Light"/>
              </a:rPr>
              <a:t>Perfil responsable de la visión técnica de la solución y de su integración con el ecosistema tecnológico del Cliente.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6959" y="4616391"/>
            <a:ext cx="10527065" cy="7124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1439"/>
              </a:spcAft>
              <a:buNone/>
            </a:pPr>
            <a:r>
              <a:rPr sz="3199" b="1" i="0">
                <a:solidFill>
                  <a:srgbClr val="1F4E5E"/>
                </a:solidFill>
                <a:latin typeface="IBM Plex Sans"/>
              </a:rPr>
              <a:t>Responsabilidades principales</a:t>
            </a:r>
          </a:p>
          <a:p>
            <a:pPr algn="l" marL="512043" indent="-512043">
              <a:lnSpc>
                <a:spcPct val="105000"/>
              </a:lnSpc>
              <a:spcAft>
                <a:spcPts val="1439"/>
              </a:spcAft>
              <a:buClr>
                <a:srgbClr val="08BED4"/>
              </a:buClr>
              <a:buSzPct val="100000"/>
              <a:buFont typeface="Arial"/>
              <a:buChar char="▪"/>
            </a:pPr>
            <a:r>
              <a:rPr sz="3199" b="0" i="0">
                <a:solidFill>
                  <a:srgbClr val="1E2A2F"/>
                </a:solidFill>
                <a:latin typeface="IBM Plex Sans Light"/>
              </a:rPr>
              <a:t>Diseño de la arquitectura de agentes, conectores y base de conocimiento</a:t>
            </a:r>
          </a:p>
          <a:p>
            <a:pPr algn="l" marL="512043" indent="-512043">
              <a:lnSpc>
                <a:spcPct val="105000"/>
              </a:lnSpc>
              <a:spcAft>
                <a:spcPts val="1439"/>
              </a:spcAft>
              <a:buClr>
                <a:srgbClr val="08BED4"/>
              </a:buClr>
              <a:buSzPct val="100000"/>
              <a:buFont typeface="Arial"/>
              <a:buChar char="▪"/>
            </a:pPr>
            <a:r>
              <a:rPr sz="3199" b="0" i="0">
                <a:solidFill>
                  <a:srgbClr val="1E2A2F"/>
                </a:solidFill>
                <a:latin typeface="IBM Plex Sans Light"/>
              </a:rPr>
              <a:t>Definición de estándares de seguridad, trazabilidad y observabilidad</a:t>
            </a:r>
          </a:p>
          <a:p>
            <a:pPr algn="l" marL="512043" indent="-512043">
              <a:lnSpc>
                <a:spcPct val="105000"/>
              </a:lnSpc>
              <a:spcAft>
                <a:spcPts val="1439"/>
              </a:spcAft>
              <a:buClr>
                <a:srgbClr val="08BED4"/>
              </a:buClr>
              <a:buSzPct val="100000"/>
              <a:buFont typeface="Arial"/>
              <a:buChar char="▪"/>
            </a:pPr>
            <a:r>
              <a:rPr sz="3199" b="0" i="0">
                <a:solidFill>
                  <a:srgbClr val="1E2A2F"/>
                </a:solidFill>
                <a:latin typeface="IBM Plex Sans Light"/>
              </a:rPr>
              <a:t>Coordinación técnica con los equipos de plataforma del Cliente</a:t>
            </a:r>
          </a:p>
          <a:p>
            <a:pPr algn="l" marL="512043" indent="-512043">
              <a:lnSpc>
                <a:spcPct val="105000"/>
              </a:lnSpc>
              <a:buClr>
                <a:srgbClr val="08BED4"/>
              </a:buClr>
              <a:buSzPct val="100000"/>
              <a:buFont typeface="Arial"/>
              <a:buChar char="▪"/>
            </a:pPr>
            <a:r>
              <a:rPr sz="3199" b="0" i="0">
                <a:solidFill>
                  <a:srgbClr val="1E2A2F"/>
                </a:solidFill>
                <a:latin typeface="IBM Plex Sans Light"/>
              </a:rPr>
              <a:t>Revisión de calidad de prompts y respuestas antes de cada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48388" y="4616391"/>
            <a:ext cx="10527065" cy="7124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1439"/>
              </a:spcAft>
              <a:buNone/>
            </a:pPr>
            <a:r>
              <a:rPr sz="3199" b="1" i="0">
                <a:solidFill>
                  <a:srgbClr val="1F4E5E"/>
                </a:solidFill>
                <a:latin typeface="IBM Plex Sans"/>
              </a:rPr>
              <a:t>Habilidades clave</a:t>
            </a:r>
          </a:p>
          <a:p>
            <a:pPr algn="l" marL="512043" indent="-512043">
              <a:lnSpc>
                <a:spcPct val="105000"/>
              </a:lnSpc>
              <a:spcAft>
                <a:spcPts val="1439"/>
              </a:spcAft>
              <a:buClr>
                <a:srgbClr val="08BED4"/>
              </a:buClr>
              <a:buSzPct val="100000"/>
              <a:buFont typeface="Arial"/>
              <a:buChar char="▪"/>
            </a:pPr>
            <a:r>
              <a:rPr sz="3199" b="0" i="0">
                <a:solidFill>
                  <a:srgbClr val="1E2A2F"/>
                </a:solidFill>
                <a:latin typeface="IBM Plex Sans Light"/>
              </a:rPr>
              <a:t>Experiencia en arquitecturas cloud y servicios gestionados de IA</a:t>
            </a:r>
          </a:p>
          <a:p>
            <a:pPr algn="l" marL="512043" indent="-512043">
              <a:lnSpc>
                <a:spcPct val="105000"/>
              </a:lnSpc>
              <a:spcAft>
                <a:spcPts val="1439"/>
              </a:spcAft>
              <a:buClr>
                <a:srgbClr val="08BED4"/>
              </a:buClr>
              <a:buSzPct val="100000"/>
              <a:buFont typeface="Arial"/>
              <a:buChar char="▪"/>
            </a:pPr>
            <a:r>
              <a:rPr sz="3199" b="0" i="0">
                <a:solidFill>
                  <a:srgbClr val="1E2A2F"/>
                </a:solidFill>
                <a:latin typeface="IBM Plex Sans Light"/>
              </a:rPr>
              <a:t>Diseño de soluciones RAG y orquestación multiagente</a:t>
            </a:r>
          </a:p>
          <a:p>
            <a:pPr algn="l" marL="512043" indent="-512043">
              <a:lnSpc>
                <a:spcPct val="105000"/>
              </a:lnSpc>
              <a:spcAft>
                <a:spcPts val="1439"/>
              </a:spcAft>
              <a:buClr>
                <a:srgbClr val="08BED4"/>
              </a:buClr>
              <a:buSzPct val="100000"/>
              <a:buFont typeface="Arial"/>
              <a:buChar char="▪"/>
            </a:pPr>
            <a:r>
              <a:rPr sz="3199" b="0" i="0">
                <a:solidFill>
                  <a:srgbClr val="1E2A2F"/>
                </a:solidFill>
                <a:latin typeface="IBM Plex Sans Light"/>
              </a:rPr>
              <a:t>Integración mediante APIs y protocolos estándar (MCP)</a:t>
            </a:r>
          </a:p>
          <a:p>
            <a:pPr algn="l" marL="512043" indent="-512043">
              <a:lnSpc>
                <a:spcPct val="105000"/>
              </a:lnSpc>
              <a:buClr>
                <a:srgbClr val="08BED4"/>
              </a:buClr>
              <a:buSzPct val="100000"/>
              <a:buFont typeface="Arial"/>
              <a:buChar char="▪"/>
            </a:pPr>
            <a:r>
              <a:rPr sz="3199" b="0" i="0">
                <a:solidFill>
                  <a:srgbClr val="1E2A2F"/>
                </a:solidFill>
                <a:latin typeface="IBM Plex Sans Light"/>
              </a:rPr>
              <a:t>Comunicación con perfiles de negocio y técnicos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217" y="4388944"/>
            <a:ext cx="19261978" cy="475468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7999" b="1" i="0">
                <a:solidFill>
                  <a:srgbClr val="1F4E5E"/>
                </a:solidFill>
                <a:latin typeface="IBM Plex Sans"/>
              </a:rPr>
              <a:t>Proponemos arrancar en </a:t>
            </a:r>
            <a:r>
              <a:rPr sz="7999" b="1" i="0">
                <a:solidFill>
                  <a:srgbClr val="0A8FA1"/>
                </a:solidFill>
                <a:latin typeface="IBM Plex Sans"/>
              </a:rPr>
              <a:t>noviembre</a:t>
            </a:r>
            <a:r>
              <a:rPr sz="7999" b="1" i="0">
                <a:solidFill>
                  <a:srgbClr val="1F4E5E"/>
                </a:solidFill>
                <a:latin typeface="IBM Plex Sans"/>
              </a:rPr>
              <a:t> para tener los agentes en producción en </a:t>
            </a:r>
            <a:r>
              <a:rPr sz="7999" b="1" i="0">
                <a:solidFill>
                  <a:srgbClr val="0A8FA1"/>
                </a:solidFill>
                <a:latin typeface="IBM Plex Sans"/>
              </a:rPr>
              <a:t>febrero de 2027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5599" b="1">
                <a:solidFill>
                  <a:srgbClr val="FFFFFF"/>
                </a:solidFill>
                <a:latin typeface="IBM Plex Sans"/>
              </a:rPr>
              <a:t>CR2026-045 Agentes IA para Gestión de Incidencias</a:t>
            </a:r>
          </a:p>
          <a:p>
            <a:pPr>
              <a:spcBef>
                <a:spcPts val="1599"/>
              </a:spcBef>
            </a:pPr>
            <a:r>
              <a:rPr sz="3599">
                <a:solidFill>
                  <a:srgbClr val="FFFFFF"/>
                </a:solidFill>
                <a:latin typeface="IBM Plex Sans Light"/>
              </a:rPr>
              <a:t>▪  Aprobación de la oferta</a:t>
            </a:r>
          </a:p>
          <a:p>
            <a:pPr>
              <a:spcBef>
                <a:spcPts val="1599"/>
              </a:spcBef>
            </a:pPr>
            <a:r>
              <a:rPr sz="3599">
                <a:solidFill>
                  <a:srgbClr val="FFFFFF"/>
                </a:solidFill>
                <a:latin typeface="IBM Plex Sans Light"/>
              </a:rPr>
              <a:t>▪  Kick-off con el equipo de Soporte IT</a:t>
            </a:r>
          </a:p>
          <a:p>
            <a:pPr>
              <a:spcBef>
                <a:spcPts val="1599"/>
              </a:spcBef>
            </a:pPr>
            <a:r>
              <a:rPr sz="3599">
                <a:solidFill>
                  <a:srgbClr val="FFFFFF"/>
                </a:solidFill>
                <a:latin typeface="IBM Plex Sans Light"/>
              </a:rPr>
              <a:t>▪  Selección de aplicaciones piloto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2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Custom</PresentationFormat>
  <Slides>0</Slides>
  <Notes>0</Notes>
  <HiddenSlides>0</HiddenSlides>
  <Company>Lean Corporate Services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Oferta de Servicios Lean IT – CR2026-045 Agentes IA para Gestión de Incidencias</dc:title>
  <dc:creator>Lean Corporate Services</dc:creator>
  <cp:lastModifiedBy/>
  <cp:revision>1</cp:revision>
  <cp:lastPrinted>2026-03-02T07:55:58Z</cp:lastPrinted>
  <dcterms:created xsi:type="dcterms:W3CDTF">2012-08-24T00:53:15Z</dcterms:created>
  <dcterms:modified xsi:type="dcterms:W3CDTF">2026-03-09T13:20:44Z</dcterms:modified>
  <dc:subject/>
  <cp:keywords/>
  <dc:description/>
</cp:coreProperties>
</file>